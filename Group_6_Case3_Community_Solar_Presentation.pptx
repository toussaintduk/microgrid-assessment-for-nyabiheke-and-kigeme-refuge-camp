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0"/>
  </p:notesMasterIdLst>
  <p:sldIdLst>
    <p:sldId id="256" r:id="rId2"/>
    <p:sldId id="275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8" r:id="rId13"/>
    <p:sldId id="269" r:id="rId14"/>
    <p:sldId id="270" r:id="rId15"/>
    <p:sldId id="257" r:id="rId16"/>
    <p:sldId id="272" r:id="rId17"/>
    <p:sldId id="273" r:id="rId18"/>
    <p:sldId id="274" r:id="rId1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Opening" id="{EF8B41FA-CE4C-7884-2FB6-0E05062504BE}">
          <p14:sldIdLst>
            <p14:sldId id="256"/>
            <p14:sldId id="275"/>
            <p14:sldId id="258"/>
          </p14:sldIdLst>
        </p14:section>
        <p14:section name="Method" id="{97FE1B1C-BA91-FF61-B791-8E36B018A53F}">
          <p14:sldIdLst>
            <p14:sldId id="259"/>
          </p14:sldIdLst>
        </p14:section>
        <p14:section name="Q1: Is it performing?" id="{B335E506-1655-2715-CF5D-AF4A70744841}">
          <p14:sldIdLst>
            <p14:sldId id="260"/>
            <p14:sldId id="261"/>
            <p14:sldId id="262"/>
            <p14:sldId id="263"/>
          </p14:sldIdLst>
        </p14:section>
        <p14:section name="Q3: Is there spare capacity?" id="{2ABFCEA9-F74A-7ED3-E352-097436C7279F}">
          <p14:sldIdLst>
            <p14:sldId id="264"/>
            <p14:sldId id="265"/>
            <p14:sldId id="266"/>
            <p14:sldId id="268"/>
            <p14:sldId id="269"/>
          </p14:sldIdLst>
        </p14:section>
        <p14:section name="Q2: Is it meeting needs?" id="{6C02066A-F37C-67E6-52B6-21B7BC032070}">
          <p14:sldIdLst>
            <p14:sldId id="270"/>
            <p14:sldId id="257"/>
          </p14:sldIdLst>
        </p14:section>
        <p14:section name="Limits and decision" id="{58DE3A1E-67D4-5FB9-9C81-8B1153C7A088}">
          <p14:sldIdLst>
            <p14:sldId id="272"/>
            <p14:sldId id="273"/>
            <p14:sldId id="274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5" d="100"/>
          <a:sy n="95" d="100"/>
        </p:scale>
        <p:origin x="17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2263677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Both presenters. Open in 20 seconds, then go straight to slide 2: the question and the recommendation must land in the first minute.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7F1648-1437-FF55-3058-2143E85843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EF22318-AD76-DF76-3BCF-05A23438D38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0346441-61A6-3059-05BC-9720962A4AE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Touissant. Stress that gaps were never filled and blanks never became zeros.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E33BBAC-52EA-2756-FBDC-3CA3BC15122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124800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Touissant. Stress that gaps were never filled and blanks never became zeros.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Rasheed. This is the 'why this measure' slide. Say it in facility-manager words, not method words.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Touissant. 97% controller at both sites. The Hall gap is partly light load, but not fully.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Rasheed. Main message: do not send someone to inspect panels. The same factor at both sites points at the model assumptions (north-facing, 10 degrees).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Touissant. This is the evidence that there is spare daytime energy at all.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Touissant. Separate the recorded outage from the unobserved gap.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Rasheed. The earlier draft said 07:00 to 12:00. The data moved us to 10:00 to 15:00.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Touissant. Demand roughly doubled over the record. This is the reason the Hall needs the 85% rule.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Rasheed. One reserve floor is a design choice. Show how much the answer swings.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Rasheed. Stress case: solar at 70%.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Touissant. The surge caveat matters: Kigeme AC peaks reach 3.1 kW against a 960 W continuous limit.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Touissant. Say plainly that the cluster bootstrap in B.6 has not been run in the notebook output.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Rasheed, first minute. Read the question, then the three actions. Name the audience: the Kigeme and Hall site managers and the mini-grid operator.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Both. Say it plainly. 'We could not establish that' is a good answer when true.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Both present. Rasheed: Do. Touissant: Constraints and Uncertainty. End by inviting questions.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these as starting points. If we do not know, say: we could not establish that from this data.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27432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2800" b="1" dirty="0">
                <a:solidFill>
                  <a:schemeClr val="tx2"/>
                </a:solidFill>
              </a:defRPr>
            </a:lvl1pPr>
          </a:lstStyle>
          <a:p>
            <a:pPr marL="0" indent="0" algn="l">
              <a:buNone/>
            </a:pPr>
            <a:endParaRPr lang="en-US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rgbClr val="7A8CA3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0B254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731520" y="1828800"/>
            <a:ext cx="10515600" cy="164592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4400" b="1" dirty="0">
                <a:solidFill>
                  <a:schemeClr val="bg1"/>
                </a:solidFill>
              </a:defRPr>
            </a:lvl1pPr>
          </a:lstStyle>
          <a:p>
            <a:pPr marL="0" indent="0" algn="l">
              <a:buNone/>
            </a:pPr>
            <a:endParaRPr lang="en-US" sz="44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rgbClr val="7A8CA3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321013" y="887128"/>
            <a:ext cx="10868355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4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Carnegie Mellon University Africa</a:t>
            </a:r>
            <a:endParaRPr lang="en-US" sz="4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1"/>
          <p:cNvSpPr txBox="1"/>
          <p:nvPr/>
        </p:nvSpPr>
        <p:spPr>
          <a:xfrm>
            <a:off x="731520" y="374904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Case 3: Kigeme microgrid and Nyabiheke Hall  |  Spare-capacity briefing</a:t>
            </a:r>
          </a:p>
        </p:txBody>
      </p:sp>
      <p:sp>
        <p:nvSpPr>
          <p:cNvPr id="4" name="Text 2"/>
          <p:cNvSpPr txBox="1"/>
          <p:nvPr/>
        </p:nvSpPr>
        <p:spPr>
          <a:xfrm>
            <a:off x="321013" y="6310965"/>
            <a:ext cx="11870987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Rasheed Adarijo and Toussaint Dukundimana  |  CMU 04-782 Energy Data Analytics  |  Data: from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Kigeme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Nyabiheke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Refuge Camp  July 2019 to March 2020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07FE7E-D9CD-0B65-28A7-B04AE58B82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9A14EAAD-8CC8-6900-C52C-A0B94614AB71}"/>
              </a:ext>
            </a:extLst>
          </p:cNvPr>
          <p:cNvSpPr>
            <a:spLocks noGrp="1"/>
          </p:cNvSpPr>
          <p:nvPr>
            <p:ph type="title" idx="100" hasCustomPrompt="1"/>
          </p:nvPr>
        </p:nvSpPr>
        <p:spPr>
          <a:xfrm>
            <a:off x="640080" y="603985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Can the community solar systems carry more services?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DC8E1EC7-680D-FED4-AC25-AB84343C91FD}"/>
              </a:ext>
            </a:extLst>
          </p:cNvPr>
          <p:cNvSpPr txBox="1"/>
          <p:nvPr/>
        </p:nvSpPr>
        <p:spPr>
          <a:xfrm>
            <a:off x="548640" y="640080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B8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Source: Zenodo 4304799. Notebook sections 1 to 3 (audit, interval energy, sensitivity tests).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Slide Number Placeholder 0">
            <a:extLst>
              <a:ext uri="{FF2B5EF4-FFF2-40B4-BE49-F238E27FC236}">
                <a16:creationId xmlns:a16="http://schemas.microsoft.com/office/drawing/2014/main" id="{EC093022-1DA9-F016-65A5-75D638934312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7A8CA3"/>
                </a:solidFill>
              </a:defRPr>
            </a:lvl1pPr>
          </a:lstStyle>
          <a:p>
            <a:pPr algn="l"/>
            <a:fld id="{F7021451-1387-4CA6-816F-3879F97B5CBC}" type="slidenum">
              <a:rPr lang="en-US" b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fld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9C3CB8C-01E7-A7E4-DAC3-D1A1DD634331}"/>
              </a:ext>
            </a:extLst>
          </p:cNvPr>
          <p:cNvSpPr txBox="1"/>
          <p:nvPr/>
        </p:nvSpPr>
        <p:spPr>
          <a:xfrm>
            <a:off x="682591" y="2841337"/>
            <a:ext cx="10826817" cy="19236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RW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Repair faulty fixtures first. </a:t>
            </a:r>
            <a:endParaRPr lang="en-GB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RW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Add daytime load at </a:t>
            </a:r>
            <a:r>
              <a:rPr lang="en-RW" sz="17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Kigeme</a:t>
            </a:r>
            <a:r>
              <a:rPr lang="en-RW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(10:00–15:00). </a:t>
            </a:r>
            <a:endParaRPr lang="en-GB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RW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At the Hall </a:t>
            </a:r>
            <a:r>
              <a:rPr lang="en-GB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RW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run new load only above 85% charge.</a:t>
            </a:r>
            <a:endParaRPr lang="en-GB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RW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Buy no new panels, trackers, or batteries yet.</a:t>
            </a:r>
            <a:endParaRPr lang="en-GB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700" dirty="0">
                <a:solidFill>
                  <a:srgbClr val="1B263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Repair CPE10, playground CPE4 and sockets, Streetlight 1; audit Nursery 2 wiring (Evidenced)</a:t>
            </a:r>
            <a:endParaRPr lang="en-US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700" dirty="0">
                <a:solidFill>
                  <a:srgbClr val="1B263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Add sockets only at Hall S1 and Playground S2 (Evidenced)</a:t>
            </a:r>
            <a:endParaRPr lang="en-US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RW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608D6284-7427-BBFB-52E2-8189A7E65537}"/>
              </a:ext>
            </a:extLst>
          </p:cNvPr>
          <p:cNvSpPr txBox="1"/>
          <p:nvPr/>
        </p:nvSpPr>
        <p:spPr>
          <a:xfrm>
            <a:off x="640080" y="2186765"/>
            <a:ext cx="6096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Recommendation </a:t>
            </a:r>
            <a:endParaRPr lang="en-RW" b="1" dirty="0"/>
          </a:p>
        </p:txBody>
      </p:sp>
    </p:spTree>
    <p:extLst>
      <p:ext uri="{BB962C8B-B14F-4D97-AF65-F5344CB8AC3E}">
        <p14:creationId xmlns:p14="http://schemas.microsoft.com/office/powerpoint/2010/main" val="19698397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27432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What we analysed, and how we kept it honest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1"/>
          <p:cNvSpPr txBox="1"/>
          <p:nvPr/>
        </p:nvSpPr>
        <p:spPr>
          <a:xfrm>
            <a:off x="548640" y="640080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B8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Source: Zenodo 4304799. Notebook sections 1 to 3 (audit, interval energy, sensitivity tests).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64240" cy="1371600"/>
        </p:xfrm>
        <a:graphic>
          <a:graphicData uri="http://schemas.openxmlformats.org/drawingml/2006/table">
            <a:tbl>
              <a:tblPr/>
              <a:tblGrid>
                <a:gridCol w="26517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Site</a:t>
                      </a:r>
                      <a:endParaRPr lang="en-US" sz="1300" dirty="0"/>
                    </a:p>
                  </a:txBody>
                  <a:tcPr anchor="ctr">
                    <a:lnL w="1270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PV</a:t>
                      </a:r>
                      <a:endParaRPr lang="en-US" sz="1300" dirty="0"/>
                    </a:p>
                  </a:txBody>
                  <a:tcPr anchor="ctr">
                    <a:lnL w="1270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Battery</a:t>
                      </a:r>
                      <a:endParaRPr lang="en-US" sz="1300" dirty="0"/>
                    </a:p>
                  </a:txBody>
                  <a:tcPr anchor="ctr">
                    <a:lnL w="1270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Readings</a:t>
                      </a:r>
                      <a:endParaRPr lang="en-US" sz="1300" dirty="0"/>
                    </a:p>
                  </a:txBody>
                  <a:tcPr anchor="ctr">
                    <a:lnL w="1270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Days (complete)</a:t>
                      </a:r>
                      <a:endParaRPr lang="en-US" sz="1300" dirty="0"/>
                    </a:p>
                  </a:txBody>
                  <a:tcPr anchor="ctr">
                    <a:lnL w="1270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Logging step</a:t>
                      </a:r>
                      <a:endParaRPr lang="en-US" sz="1300" dirty="0"/>
                    </a:p>
                  </a:txBody>
                  <a:tcPr anchor="ctr">
                    <a:lnL w="1270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1B263B"/>
                          </a:solidFill>
                        </a:rPr>
                        <a:t>Kigeme microgrid</a:t>
                      </a:r>
                      <a:endParaRPr lang="en-US" sz="1300" dirty="0"/>
                    </a:p>
                  </a:txBody>
                  <a:tcPr anchor="ctr">
                    <a:lnL w="1270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B263B"/>
                          </a:solidFill>
                        </a:rPr>
                        <a:t>2.5 kWp</a:t>
                      </a:r>
                      <a:endParaRPr lang="en-US" sz="1300" dirty="0"/>
                    </a:p>
                  </a:txBody>
                  <a:tcPr anchor="ctr">
                    <a:lnL w="1270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B263B"/>
                          </a:solidFill>
                        </a:rPr>
                        <a:t>21.1 kWh</a:t>
                      </a:r>
                      <a:endParaRPr lang="en-US" sz="1300" dirty="0"/>
                    </a:p>
                  </a:txBody>
                  <a:tcPr anchor="ctr">
                    <a:lnL w="1270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B263B"/>
                          </a:solidFill>
                        </a:rPr>
                        <a:t>354,436</a:t>
                      </a:r>
                      <a:endParaRPr lang="en-US" sz="1300" dirty="0"/>
                    </a:p>
                  </a:txBody>
                  <a:tcPr anchor="ctr">
                    <a:lnL w="1270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B263B"/>
                          </a:solidFill>
                        </a:rPr>
                        <a:t>270 (230)</a:t>
                      </a:r>
                      <a:endParaRPr lang="en-US" sz="1300" dirty="0"/>
                    </a:p>
                  </a:txBody>
                  <a:tcPr anchor="ctr">
                    <a:lnL w="1270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B263B"/>
                          </a:solidFill>
                        </a:rPr>
                        <a:t>about 1 min</a:t>
                      </a:r>
                      <a:endParaRPr lang="en-US" sz="1300" dirty="0"/>
                    </a:p>
                  </a:txBody>
                  <a:tcPr anchor="ctr">
                    <a:lnL w="1270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1B263B"/>
                          </a:solidFill>
                        </a:rPr>
                        <a:t>Nyabiheke Hall</a:t>
                      </a:r>
                      <a:endParaRPr lang="en-US" sz="1300" dirty="0"/>
                    </a:p>
                  </a:txBody>
                  <a:tcPr anchor="ctr">
                    <a:lnL w="1270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B263B"/>
                          </a:solidFill>
                        </a:rPr>
                        <a:t>2.04 kWp</a:t>
                      </a:r>
                      <a:endParaRPr lang="en-US" sz="1300" dirty="0"/>
                    </a:p>
                  </a:txBody>
                  <a:tcPr anchor="ctr">
                    <a:lnL w="1270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B263B"/>
                          </a:solidFill>
                        </a:rPr>
                        <a:t>10.6 kWh</a:t>
                      </a:r>
                      <a:endParaRPr lang="en-US" sz="1300" dirty="0"/>
                    </a:p>
                  </a:txBody>
                  <a:tcPr anchor="ctr">
                    <a:lnL w="1270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B263B"/>
                          </a:solidFill>
                        </a:rPr>
                        <a:t>34,090</a:t>
                      </a:r>
                      <a:endParaRPr lang="en-US" sz="1300" dirty="0"/>
                    </a:p>
                  </a:txBody>
                  <a:tcPr anchor="ctr">
                    <a:lnL w="1270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B263B"/>
                          </a:solidFill>
                        </a:rPr>
                        <a:t>256 (256)</a:t>
                      </a:r>
                      <a:endParaRPr lang="en-US" sz="1300" dirty="0"/>
                    </a:p>
                  </a:txBody>
                  <a:tcPr anchor="ctr">
                    <a:lnL w="1270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B263B"/>
                          </a:solidFill>
                        </a:rPr>
                        <a:t>15 min</a:t>
                      </a:r>
                      <a:endParaRPr lang="en-US" sz="1300" dirty="0"/>
                    </a:p>
                  </a:txBody>
                  <a:tcPr anchor="ctr">
                    <a:lnL w="1270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6" name="statcard"/>
          <p:cNvSpPr/>
          <p:nvPr/>
        </p:nvSpPr>
        <p:spPr>
          <a:xfrm>
            <a:off x="548640" y="3017520"/>
            <a:ext cx="2651760" cy="1234440"/>
          </a:xfrm>
          <a:prstGeom prst="roundRect">
            <a:avLst>
              <a:gd name="adj" fmla="val 5926"/>
            </a:avLst>
          </a:prstGeom>
          <a:solidFill>
            <a:srgbClr val="EEF2F6"/>
          </a:solidFill>
          <a:ln w="12700">
            <a:solidFill>
              <a:srgbClr val="EEF2F6"/>
            </a:solidFill>
            <a:prstDash val="solid"/>
          </a:ln>
        </p:spPr>
        <p:txBody>
          <a:bodyPr/>
          <a:lstStyle/>
          <a:p>
            <a:endParaRPr lang="en-RW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3"/>
          <p:cNvSpPr txBox="1"/>
          <p:nvPr/>
        </p:nvSpPr>
        <p:spPr>
          <a:xfrm>
            <a:off x="685800" y="3090672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F5FA8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&lt; 0.1%</a:t>
            </a:r>
            <a:endParaRPr lang="en-US" sz="3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4"/>
          <p:cNvSpPr txBox="1"/>
          <p:nvPr/>
        </p:nvSpPr>
        <p:spPr>
          <a:xfrm>
            <a:off x="685800" y="3730752"/>
            <a:ext cx="2377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B263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change in total energy from the duplicate-timestamp rule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statcard"/>
          <p:cNvSpPr/>
          <p:nvPr/>
        </p:nvSpPr>
        <p:spPr>
          <a:xfrm>
            <a:off x="3383280" y="3017520"/>
            <a:ext cx="2651760" cy="1234440"/>
          </a:xfrm>
          <a:prstGeom prst="roundRect">
            <a:avLst>
              <a:gd name="adj" fmla="val 5926"/>
            </a:avLst>
          </a:prstGeom>
          <a:solidFill>
            <a:srgbClr val="EEF2F6"/>
          </a:solidFill>
          <a:ln w="12700">
            <a:solidFill>
              <a:srgbClr val="EEF2F6"/>
            </a:solidFill>
            <a:prstDash val="solid"/>
          </a:ln>
        </p:spPr>
        <p:txBody>
          <a:bodyPr/>
          <a:lstStyle/>
          <a:p>
            <a:endParaRPr lang="en-RW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 6"/>
          <p:cNvSpPr txBox="1"/>
          <p:nvPr/>
        </p:nvSpPr>
        <p:spPr>
          <a:xfrm>
            <a:off x="3520440" y="3090672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C0392B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6 days</a:t>
            </a:r>
            <a:endParaRPr lang="en-US" sz="3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 7"/>
          <p:cNvSpPr txBox="1"/>
          <p:nvPr/>
        </p:nvSpPr>
        <p:spPr>
          <a:xfrm>
            <a:off x="3520440" y="3730752"/>
            <a:ext cx="2377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B263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Kigeme logging hole, 12 to 18 Sept; left as a gap, not filled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statcard"/>
          <p:cNvSpPr/>
          <p:nvPr/>
        </p:nvSpPr>
        <p:spPr>
          <a:xfrm>
            <a:off x="6217920" y="3017520"/>
            <a:ext cx="2651760" cy="1234440"/>
          </a:xfrm>
          <a:prstGeom prst="roundRect">
            <a:avLst>
              <a:gd name="adj" fmla="val 5926"/>
            </a:avLst>
          </a:prstGeom>
          <a:solidFill>
            <a:srgbClr val="EEF2F6"/>
          </a:solidFill>
          <a:ln w="12700">
            <a:solidFill>
              <a:srgbClr val="EEF2F6"/>
            </a:solidFill>
            <a:prstDash val="solid"/>
          </a:ln>
        </p:spPr>
        <p:txBody>
          <a:bodyPr/>
          <a:lstStyle/>
          <a:p>
            <a:endParaRPr lang="en-RW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 9"/>
          <p:cNvSpPr txBox="1"/>
          <p:nvPr/>
        </p:nvSpPr>
        <p:spPr>
          <a:xfrm>
            <a:off x="6355080" y="3090672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2A9D8F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0.5%</a:t>
            </a:r>
            <a:endParaRPr lang="en-US" sz="3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 10"/>
          <p:cNvSpPr txBox="1"/>
          <p:nvPr/>
        </p:nvSpPr>
        <p:spPr>
          <a:xfrm>
            <a:off x="6355080" y="3730752"/>
            <a:ext cx="2377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B263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Kigeme: battery counters vs our integrated energy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statcard"/>
          <p:cNvSpPr/>
          <p:nvPr/>
        </p:nvSpPr>
        <p:spPr>
          <a:xfrm>
            <a:off x="9052560" y="3017520"/>
            <a:ext cx="2560320" cy="1234440"/>
          </a:xfrm>
          <a:prstGeom prst="roundRect">
            <a:avLst>
              <a:gd name="adj" fmla="val 5926"/>
            </a:avLst>
          </a:prstGeom>
          <a:solidFill>
            <a:srgbClr val="EEF2F6"/>
          </a:solidFill>
          <a:ln w="12700">
            <a:solidFill>
              <a:srgbClr val="EEF2F6"/>
            </a:solidFill>
            <a:prstDash val="solid"/>
          </a:ln>
        </p:spPr>
        <p:txBody>
          <a:bodyPr/>
          <a:lstStyle/>
          <a:p>
            <a:endParaRPr lang="en-RW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Text 12"/>
          <p:cNvSpPr txBox="1"/>
          <p:nvPr/>
        </p:nvSpPr>
        <p:spPr>
          <a:xfrm>
            <a:off x="9189720" y="3090672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4A300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2 to 5%</a:t>
            </a:r>
            <a:endParaRPr lang="en-US" sz="3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Text 13"/>
          <p:cNvSpPr txBox="1"/>
          <p:nvPr/>
        </p:nvSpPr>
        <p:spPr>
          <a:xfrm>
            <a:off x="9189720" y="3730752"/>
            <a:ext cx="2286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B263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Hall: same check, with more day-to-day scatter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Text 14"/>
          <p:cNvSpPr txBox="1"/>
          <p:nvPr/>
        </p:nvSpPr>
        <p:spPr>
          <a:xfrm>
            <a:off x="548640" y="4526280"/>
            <a:ext cx="110642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B263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Intervals longer than 10 min (Kigeme) or 30 min (Hall) count as gaps: no energy, no coverage.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B263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blank is never turned into zero; monthly numbers use complete days only (90% coverage or more).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B263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Device meters are compared with system AC, never added to it.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rgbClr val="7A8CA3"/>
                </a:solidFill>
              </a:defRPr>
            </a:lvl1pPr>
          </a:lstStyle>
          <a:p>
            <a:pPr algn="l"/>
            <a:fld id="{F7021451-1387-4CA6-816F-3879F97B5CBC}" type="slidenum">
              <a:rPr lang="en-US" b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fld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27432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measure: does the system have energy to spare, when, and for how long?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1"/>
          <p:cNvSpPr txBox="1"/>
          <p:nvPr/>
        </p:nvSpPr>
        <p:spPr>
          <a:xfrm>
            <a:off x="548640" y="640080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B80"/>
                </a:solidFill>
              </a:rPr>
              <a:t>Method: notebook sections 6, 9 and D. Unused PV = calibrated potential minus measured PV while the battery is full.</a:t>
            </a:r>
            <a:endParaRPr lang="en-US" sz="1000" dirty="0"/>
          </a:p>
        </p:txBody>
      </p:sp>
      <p:sp>
        <p:nvSpPr>
          <p:cNvPr id="5" name="mcard"/>
          <p:cNvSpPr/>
          <p:nvPr/>
        </p:nvSpPr>
        <p:spPr>
          <a:xfrm>
            <a:off x="548640" y="1371600"/>
            <a:ext cx="3566160" cy="2743200"/>
          </a:xfrm>
          <a:prstGeom prst="roundRect">
            <a:avLst>
              <a:gd name="adj" fmla="val 2667"/>
            </a:avLst>
          </a:prstGeom>
          <a:solidFill>
            <a:srgbClr val="EEF2F6"/>
          </a:solidFill>
          <a:ln w="12700">
            <a:solidFill>
              <a:srgbClr val="EEF2F6"/>
            </a:solidFill>
            <a:prstDash val="solid"/>
          </a:ln>
        </p:spPr>
        <p:txBody>
          <a:bodyPr/>
          <a:lstStyle/>
          <a:p>
            <a:endParaRPr lang="en-RW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3"/>
          <p:cNvSpPr txBox="1"/>
          <p:nvPr/>
        </p:nvSpPr>
        <p:spPr>
          <a:xfrm>
            <a:off x="777240" y="150876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F5FA8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Power</a:t>
            </a:r>
            <a:endParaRPr lang="en-US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4"/>
          <p:cNvSpPr txBox="1"/>
          <p:nvPr/>
        </p:nvSpPr>
        <p:spPr>
          <a:xfrm>
            <a:off x="777240" y="2103120"/>
            <a:ext cx="3108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1B263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Can the inverter carry it at the same moment?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5"/>
          <p:cNvSpPr txBox="1"/>
          <p:nvPr/>
        </p:nvSpPr>
        <p:spPr>
          <a:xfrm>
            <a:off x="777240" y="3063240"/>
            <a:ext cx="3108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i="1" dirty="0">
                <a:solidFill>
                  <a:srgbClr val="3A4A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We measure: Headroom below the inverter rating at 40 C (watts)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mcard"/>
          <p:cNvSpPr/>
          <p:nvPr/>
        </p:nvSpPr>
        <p:spPr>
          <a:xfrm>
            <a:off x="4297680" y="1371600"/>
            <a:ext cx="3566160" cy="2743200"/>
          </a:xfrm>
          <a:prstGeom prst="roundRect">
            <a:avLst>
              <a:gd name="adj" fmla="val 2667"/>
            </a:avLst>
          </a:prstGeom>
          <a:solidFill>
            <a:srgbClr val="EEF2F6"/>
          </a:solidFill>
          <a:ln w="12700">
            <a:solidFill>
              <a:srgbClr val="EEF2F6"/>
            </a:solidFill>
            <a:prstDash val="solid"/>
          </a:ln>
        </p:spPr>
        <p:txBody>
          <a:bodyPr/>
          <a:lstStyle/>
          <a:p>
            <a:endParaRPr lang="en-RW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 7"/>
          <p:cNvSpPr txBox="1"/>
          <p:nvPr/>
        </p:nvSpPr>
        <p:spPr>
          <a:xfrm>
            <a:off x="4526280" y="150876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B77700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Storage</a:t>
            </a:r>
            <a:endParaRPr lang="en-US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 8"/>
          <p:cNvSpPr txBox="1"/>
          <p:nvPr/>
        </p:nvSpPr>
        <p:spPr>
          <a:xfrm>
            <a:off x="4526280" y="2103120"/>
            <a:ext cx="3108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1B263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Can the battery carry it without dipping below a safe reserve?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 9"/>
          <p:cNvSpPr txBox="1"/>
          <p:nvPr/>
        </p:nvSpPr>
        <p:spPr>
          <a:xfrm>
            <a:off x="4526280" y="3063240"/>
            <a:ext cx="3108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i="1" dirty="0">
                <a:solidFill>
                  <a:srgbClr val="3A4A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We measure: Battery charge at dawn above a 50 to 70% floor (kWh)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mcard"/>
          <p:cNvSpPr/>
          <p:nvPr/>
        </p:nvSpPr>
        <p:spPr>
          <a:xfrm>
            <a:off x="8046720" y="1371600"/>
            <a:ext cx="3566160" cy="2743200"/>
          </a:xfrm>
          <a:prstGeom prst="roundRect">
            <a:avLst>
              <a:gd name="adj" fmla="val 2667"/>
            </a:avLst>
          </a:prstGeom>
          <a:solidFill>
            <a:srgbClr val="EEF2F6"/>
          </a:solidFill>
          <a:ln w="12700">
            <a:solidFill>
              <a:srgbClr val="EEF2F6"/>
            </a:solidFill>
            <a:prstDash val="solid"/>
          </a:ln>
        </p:spPr>
        <p:txBody>
          <a:bodyPr/>
          <a:lstStyle/>
          <a:p>
            <a:endParaRPr lang="en-RW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 11"/>
          <p:cNvSpPr txBox="1"/>
          <p:nvPr/>
        </p:nvSpPr>
        <p:spPr>
          <a:xfrm>
            <a:off x="8275320" y="150876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A9D8F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Refill</a:t>
            </a:r>
            <a:endParaRPr lang="en-US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 12"/>
          <p:cNvSpPr txBox="1"/>
          <p:nvPr/>
        </p:nvSpPr>
        <p:spPr>
          <a:xfrm>
            <a:off x="8275320" y="2103120"/>
            <a:ext cx="3108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1B263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Does the sun refill the battery by the next day?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Text 13"/>
          <p:cNvSpPr txBox="1"/>
          <p:nvPr/>
        </p:nvSpPr>
        <p:spPr>
          <a:xfrm>
            <a:off x="8275320" y="3063240"/>
            <a:ext cx="3108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i="1" dirty="0">
                <a:solidFill>
                  <a:srgbClr val="3A4A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We measure: Share of days the battery returns to full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Text 14"/>
          <p:cNvSpPr txBox="1"/>
          <p:nvPr/>
        </p:nvSpPr>
        <p:spPr>
          <a:xfrm>
            <a:off x="548640" y="4389120"/>
            <a:ext cx="110642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B263B"/>
                </a:solidFill>
              </a:rPr>
              <a:t>Why not the usual performance ratio? Both arrays are big for the load, so the controller throttles solar once the battery is full. A low ratio would show throttling, not faults.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B263B"/>
                </a:solidFill>
              </a:rPr>
              <a:t>Each new load is replayed hour by hour with and without it, plus a low-sun stress case (solar at 70%). Comparing the two cancels most model error.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rgbClr val="7A8CA3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27432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equipment works; the Hall inverter is the open question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1"/>
          <p:cNvSpPr txBox="1"/>
          <p:nvPr/>
        </p:nvSpPr>
        <p:spPr>
          <a:xfrm>
            <a:off x="548640" y="640080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B8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Source: notebook section 3.1. Bands of hourly mean AC output with 20+ hours each. Efficiency inferred (no DC sensor at the inverter).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statcard"/>
          <p:cNvSpPr/>
          <p:nvPr/>
        </p:nvSpPr>
        <p:spPr>
          <a:xfrm>
            <a:off x="7863840" y="1371600"/>
            <a:ext cx="3749040" cy="1234440"/>
          </a:xfrm>
          <a:prstGeom prst="roundRect">
            <a:avLst>
              <a:gd name="adj" fmla="val 5926"/>
            </a:avLst>
          </a:prstGeom>
          <a:solidFill>
            <a:srgbClr val="EEF2F6"/>
          </a:solidFill>
          <a:ln w="12700">
            <a:solidFill>
              <a:srgbClr val="EEF2F6"/>
            </a:solidFill>
            <a:prstDash val="solid"/>
          </a:ln>
        </p:spPr>
        <p:txBody>
          <a:bodyPr/>
          <a:lstStyle/>
          <a:p>
            <a:endParaRPr lang="en-RW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3"/>
          <p:cNvSpPr txBox="1"/>
          <p:nvPr/>
        </p:nvSpPr>
        <p:spPr>
          <a:xfrm>
            <a:off x="8001000" y="1444752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2A9D8F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97%</a:t>
            </a:r>
            <a:endParaRPr lang="en-US" sz="3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4"/>
          <p:cNvSpPr txBox="1"/>
          <p:nvPr/>
        </p:nvSpPr>
        <p:spPr>
          <a:xfrm>
            <a:off x="8001000" y="2084832"/>
            <a:ext cx="3474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B263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controller efficiency, both sites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statcard"/>
          <p:cNvSpPr/>
          <p:nvPr/>
        </p:nvSpPr>
        <p:spPr>
          <a:xfrm>
            <a:off x="7863840" y="2743200"/>
            <a:ext cx="3749040" cy="1234440"/>
          </a:xfrm>
          <a:prstGeom prst="roundRect">
            <a:avLst>
              <a:gd name="adj" fmla="val 5926"/>
            </a:avLst>
          </a:prstGeom>
          <a:solidFill>
            <a:srgbClr val="EEF2F6"/>
          </a:solidFill>
          <a:ln w="12700">
            <a:solidFill>
              <a:srgbClr val="EEF2F6"/>
            </a:solidFill>
            <a:prstDash val="solid"/>
          </a:ln>
        </p:spPr>
        <p:txBody>
          <a:bodyPr/>
          <a:lstStyle/>
          <a:p>
            <a:endParaRPr lang="en-RW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 6"/>
          <p:cNvSpPr txBox="1"/>
          <p:nvPr/>
        </p:nvSpPr>
        <p:spPr>
          <a:xfrm>
            <a:off x="8001000" y="2816352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F5FA8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95% vs 85%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 7"/>
          <p:cNvSpPr txBox="1"/>
          <p:nvPr/>
        </p:nvSpPr>
        <p:spPr>
          <a:xfrm>
            <a:off x="8001000" y="3456432"/>
            <a:ext cx="3474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B263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inverter efficiency, Kigeme vs Hall (inferred)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 8"/>
          <p:cNvSpPr txBox="1"/>
          <p:nvPr/>
        </p:nvSpPr>
        <p:spPr>
          <a:xfrm>
            <a:off x="7863840" y="4160520"/>
            <a:ext cx="37490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B263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40% of Hall energy is delivered below 100 W, where inverters are weak (81%).</a:t>
            </a:r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B263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Above 250 W the Hall is still about 7 points lower (89% vs 96%). A DC-side measurement would settle it.</a:t>
            </a:r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rgbClr val="7A8CA3"/>
                </a:solidFill>
              </a:defRPr>
            </a:lvl1pPr>
          </a:lstStyle>
          <a:p>
            <a:pPr algn="l"/>
            <a:fld id="{F7021451-1387-4CA6-816F-3879F97B5CBC}" type="slidenum">
              <a:rPr lang="en-US" b="0"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fld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8D08BC71-6414-646E-B58C-ABA49012351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1711" y="1325880"/>
            <a:ext cx="7104813" cy="3863741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1F014DC6-9388-015B-7153-B273AE0F022B}"/>
              </a:ext>
            </a:extLst>
          </p:cNvPr>
          <p:cNvSpPr txBox="1"/>
          <p:nvPr/>
        </p:nvSpPr>
        <p:spPr>
          <a:xfrm>
            <a:off x="320843" y="5448962"/>
            <a:ext cx="6096000" cy="6924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RW" sz="1300" b="1" dirty="0"/>
              <a:t>Hall inverter efficiency is inferred from an AC-only </a:t>
            </a:r>
            <a:r>
              <a:rPr lang="en-RW" sz="1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</a:t>
            </a:r>
            <a:r>
              <a:rPr lang="en-RW" sz="1300" b="1" dirty="0"/>
              <a:t> (no DC sensor). Light load, model mismatch (48 V vs 24 V curve), or DC offset could explain it. A DC-side clamp meter would settle it.</a:t>
            </a:r>
            <a:endParaRPr lang="en-US" sz="13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27432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Low solar output is not a fault: panels deliver about 70% of the model at both sites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1"/>
          <p:cNvSpPr txBox="1"/>
          <p:nvPr/>
        </p:nvSpPr>
        <p:spPr>
          <a:xfrm>
            <a:off x="548640" y="640080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B8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Source: notebook section 6. Calibration on un-curtailed hours only; clock shift of +1 h found by correlation test (0.79 and 0.88 at +1 h).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Image 0" descr="Calibration of measured PV against PVGIS at both sites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280160"/>
            <a:ext cx="6858000" cy="4407408"/>
          </a:xfrm>
          <a:prstGeom prst="rect">
            <a:avLst/>
          </a:prstGeom>
        </p:spPr>
      </p:pic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680960" y="1371600"/>
          <a:ext cx="3931920" cy="2377440"/>
        </p:xfrm>
        <a:graphic>
          <a:graphicData uri="http://schemas.openxmlformats.org/drawingml/2006/table">
            <a:tbl>
              <a:tblPr/>
              <a:tblGrid>
                <a:gridCol w="1737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Statistic</a:t>
                      </a:r>
                      <a:endParaRPr lang="en-US" sz="1300" dirty="0"/>
                    </a:p>
                  </a:txBody>
                  <a:tcPr anchor="ctr">
                    <a:lnL w="1270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Kigeme</a:t>
                      </a:r>
                      <a:endParaRPr lang="en-US" sz="1300" dirty="0"/>
                    </a:p>
                  </a:txBody>
                  <a:tcPr anchor="ctr">
                    <a:lnL w="1270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Hall</a:t>
                      </a:r>
                      <a:endParaRPr lang="en-US" sz="1300" dirty="0"/>
                    </a:p>
                  </a:txBody>
                  <a:tcPr anchor="ctr">
                    <a:lnL w="1270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B263B"/>
                          </a:solidFill>
                        </a:rPr>
                        <a:t>Factor k (95% interval)</a:t>
                      </a:r>
                      <a:endParaRPr lang="en-US" sz="1300" dirty="0"/>
                    </a:p>
                  </a:txBody>
                  <a:tcPr anchor="ctr">
                    <a:lnL w="1270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B263B"/>
                          </a:solidFill>
                        </a:rPr>
                        <a:t>0.71 (0.66-0.76)</a:t>
                      </a:r>
                      <a:endParaRPr lang="en-US" sz="1300" dirty="0"/>
                    </a:p>
                  </a:txBody>
                  <a:tcPr anchor="ctr">
                    <a:lnL w="1270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B263B"/>
                          </a:solidFill>
                        </a:rPr>
                        <a:t>0.69 (0.68-0.71)</a:t>
                      </a:r>
                      <a:endParaRPr lang="en-US" sz="1300" dirty="0"/>
                    </a:p>
                  </a:txBody>
                  <a:tcPr anchor="ctr">
                    <a:lnL w="1270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B263B"/>
                          </a:solidFill>
                        </a:rPr>
                        <a:t>Error before (RMSE, W)</a:t>
                      </a:r>
                      <a:endParaRPr lang="en-US" sz="1300" dirty="0"/>
                    </a:p>
                  </a:txBody>
                  <a:tcPr anchor="ctr">
                    <a:lnL w="1270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B263B"/>
                          </a:solidFill>
                        </a:rPr>
                        <a:t>218</a:t>
                      </a:r>
                      <a:endParaRPr lang="en-US" sz="1300" dirty="0"/>
                    </a:p>
                  </a:txBody>
                  <a:tcPr anchor="ctr">
                    <a:lnL w="1270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B263B"/>
                          </a:solidFill>
                        </a:rPr>
                        <a:t>310</a:t>
                      </a:r>
                      <a:endParaRPr lang="en-US" sz="1300" dirty="0"/>
                    </a:p>
                  </a:txBody>
                  <a:tcPr anchor="ctr">
                    <a:lnL w="1270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B263B"/>
                          </a:solidFill>
                        </a:rPr>
                        <a:t>Error after, cross-validated (W)</a:t>
                      </a:r>
                      <a:endParaRPr lang="en-US" sz="1300" dirty="0"/>
                    </a:p>
                  </a:txBody>
                  <a:tcPr anchor="ctr">
                    <a:lnL w="1270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B263B"/>
                          </a:solidFill>
                        </a:rPr>
                        <a:t>152</a:t>
                      </a:r>
                      <a:endParaRPr lang="en-US" sz="1300" dirty="0"/>
                    </a:p>
                  </a:txBody>
                  <a:tcPr anchor="ctr">
                    <a:lnL w="1270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B263B"/>
                          </a:solidFill>
                        </a:rPr>
                        <a:t>156</a:t>
                      </a:r>
                      <a:endParaRPr lang="en-US" sz="1300" dirty="0"/>
                    </a:p>
                  </a:txBody>
                  <a:tcPr anchor="ctr">
                    <a:lnL w="1270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B263B"/>
                          </a:solidFill>
                        </a:rPr>
                        <a:t>Days used</a:t>
                      </a:r>
                      <a:endParaRPr lang="en-US" sz="1300" dirty="0"/>
                    </a:p>
                  </a:txBody>
                  <a:tcPr anchor="ctr">
                    <a:lnL w="1270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B263B"/>
                          </a:solidFill>
                        </a:rPr>
                        <a:t>81</a:t>
                      </a:r>
                      <a:endParaRPr lang="en-US" sz="1300" dirty="0"/>
                    </a:p>
                  </a:txBody>
                  <a:tcPr anchor="ctr">
                    <a:lnL w="1270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B263B"/>
                          </a:solidFill>
                        </a:rPr>
                        <a:t>108</a:t>
                      </a:r>
                      <a:endParaRPr lang="en-US" sz="1300" dirty="0"/>
                    </a:p>
                  </a:txBody>
                  <a:tcPr anchor="ctr">
                    <a:lnL w="1270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4" name="Text 2"/>
          <p:cNvSpPr txBox="1"/>
          <p:nvPr/>
        </p:nvSpPr>
        <p:spPr>
          <a:xfrm>
            <a:off x="7680960" y="4114800"/>
            <a:ext cx="39319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Caveat: calibration hours are mostly before 10:00 (battery is full by midday). The factor is weakly tested at midday, especially at Kigeme.</a:t>
            </a:r>
          </a:p>
        </p:txBody>
      </p:sp>
      <p:sp>
        <p:nvSpPr>
          <p:cNvPr id="8" name="Text 3"/>
          <p:cNvSpPr txBox="1"/>
          <p:nvPr/>
        </p:nvSpPr>
        <p:spPr>
          <a:xfrm>
            <a:off x="548640" y="580644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B6B8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Left panels: measured vs modelled output (red line is the fitted factor). Right panels: hour of day of the hours used.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rgbClr val="7A8CA3"/>
                </a:solidFill>
              </a:defRPr>
            </a:lvl1pPr>
          </a:lstStyle>
          <a:p>
            <a:pPr algn="l"/>
            <a:fld id="{F7021451-1387-4CA6-816F-3879F97B5CBC}" type="slidenum">
              <a:rPr lang="en-US" b="0"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fld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27432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40 to 50% of the solar potential is switched off because the battery is already full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1"/>
          <p:cNvSpPr txBox="1"/>
          <p:nvPr/>
        </p:nvSpPr>
        <p:spPr>
          <a:xfrm>
            <a:off x="548640" y="640080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B80"/>
                </a:solidFill>
              </a:rPr>
              <a:t>Source: notebook section 6.1, complete days, PVGIS x k potential. Unused is an estimate, not a measurement.</a:t>
            </a:r>
            <a:endParaRPr lang="en-US" sz="1000" dirty="0"/>
          </a:p>
        </p:txBody>
      </p:sp>
      <p:sp>
        <p:nvSpPr>
          <p:cNvPr id="6" name="statcard"/>
          <p:cNvSpPr/>
          <p:nvPr/>
        </p:nvSpPr>
        <p:spPr>
          <a:xfrm>
            <a:off x="8412480" y="1371600"/>
            <a:ext cx="3200400" cy="1234440"/>
          </a:xfrm>
          <a:prstGeom prst="roundRect">
            <a:avLst>
              <a:gd name="adj" fmla="val 5926"/>
            </a:avLst>
          </a:prstGeom>
          <a:solidFill>
            <a:srgbClr val="EEF2F6"/>
          </a:solidFill>
          <a:ln w="12700">
            <a:solidFill>
              <a:srgbClr val="EEF2F6"/>
            </a:solidFill>
            <a:prstDash val="solid"/>
          </a:ln>
        </p:spPr>
        <p:txBody>
          <a:bodyPr/>
          <a:lstStyle/>
          <a:p>
            <a:endParaRPr lang="en-RW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3"/>
          <p:cNvSpPr txBox="1"/>
          <p:nvPr/>
        </p:nvSpPr>
        <p:spPr>
          <a:xfrm>
            <a:off x="8549640" y="1444752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F5FA8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3.1</a:t>
            </a:r>
            <a:endParaRPr lang="en-US" sz="3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4"/>
          <p:cNvSpPr txBox="1"/>
          <p:nvPr/>
        </p:nvSpPr>
        <p:spPr>
          <a:xfrm>
            <a:off x="8549640" y="2084832"/>
            <a:ext cx="2926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B263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kWh/day spare at both sites </a:t>
            </a:r>
            <a:r>
              <a:rPr lang="en-US" sz="1300" b="1" dirty="0">
                <a:solidFill>
                  <a:srgbClr val="1B263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(upper estimate)</a:t>
            </a:r>
            <a:endParaRPr lang="en-US" sz="13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statcard"/>
          <p:cNvSpPr/>
          <p:nvPr/>
        </p:nvSpPr>
        <p:spPr>
          <a:xfrm>
            <a:off x="8412480" y="2743200"/>
            <a:ext cx="3200400" cy="1234440"/>
          </a:xfrm>
          <a:prstGeom prst="roundRect">
            <a:avLst>
              <a:gd name="adj" fmla="val 5926"/>
            </a:avLst>
          </a:prstGeom>
          <a:solidFill>
            <a:srgbClr val="EEF2F6"/>
          </a:solidFill>
          <a:ln w="12700">
            <a:solidFill>
              <a:srgbClr val="EEF2F6"/>
            </a:solidFill>
            <a:prstDash val="solid"/>
          </a:ln>
        </p:spPr>
        <p:txBody>
          <a:bodyPr/>
          <a:lstStyle/>
          <a:p>
            <a:endParaRPr lang="en-RW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 6"/>
          <p:cNvSpPr txBox="1"/>
          <p:nvPr/>
        </p:nvSpPr>
        <p:spPr>
          <a:xfrm>
            <a:off x="8549640" y="2816352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A9D8F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3.7 / 1.6</a:t>
            </a:r>
            <a:endParaRPr lang="en-US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 7"/>
          <p:cNvSpPr txBox="1"/>
          <p:nvPr/>
        </p:nvSpPr>
        <p:spPr>
          <a:xfrm>
            <a:off x="8549640" y="3456432"/>
            <a:ext cx="2926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B263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kWh/day: Kigeme / Hall from measured PV (</a:t>
            </a:r>
            <a:r>
              <a:rPr lang="en-US" sz="1300" b="1" dirty="0">
                <a:solidFill>
                  <a:srgbClr val="1B263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lower bound)</a:t>
            </a:r>
            <a:endParaRPr lang="en-US" sz="13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 8"/>
          <p:cNvSpPr txBox="1"/>
          <p:nvPr/>
        </p:nvSpPr>
        <p:spPr>
          <a:xfrm>
            <a:off x="8006614" y="5274645"/>
            <a:ext cx="4012131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endParaRPr lang="en-US" sz="13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rgbClr val="7A8CA3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7</a:t>
            </a:fld>
            <a:endParaRPr lang="en-US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65B327FE-8DD0-E4D9-F12D-A010D6A4693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5433" y="1748060"/>
            <a:ext cx="7845772" cy="3513751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6ADDCD69-0D99-10DC-BA4D-74BFB88644A5}"/>
              </a:ext>
            </a:extLst>
          </p:cNvPr>
          <p:cNvSpPr txBox="1"/>
          <p:nvPr/>
        </p:nvSpPr>
        <p:spPr>
          <a:xfrm>
            <a:off x="5743073" y="5417259"/>
            <a:ext cx="60960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RW" sz="1800" b="1" i="0" dirty="0">
                <a:solidFill>
                  <a:schemeClr val="tx1"/>
                </a:solidFill>
                <a:effectLst/>
                <a:latin typeface="+mn-lt"/>
              </a:rPr>
              <a:t>Direction of effect: Unused solar is likely understated because measured PV is already throttled. Lower bound understates the Hall.</a:t>
            </a:r>
            <a:endParaRPr lang="en-RW" b="1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27432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Kigeme lost about a week of AC output with a full battery: a fault, not a shortage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1"/>
          <p:cNvSpPr txBox="1"/>
          <p:nvPr/>
        </p:nvSpPr>
        <p:spPr>
          <a:xfrm>
            <a:off x="548640" y="640080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B80"/>
                </a:solidFill>
              </a:rPr>
              <a:t>Source: notebook section 7.1. Kigeme 5 to 12 September 2019. Screens, not root causes: no voltage or alarm channel exists.</a:t>
            </a:r>
            <a:endParaRPr lang="en-US" sz="1000" dirty="0"/>
          </a:p>
        </p:txBody>
      </p:sp>
      <p:pic>
        <p:nvPicPr>
          <p:cNvPr id="5" name="Image 0" descr="September 2019 AC, PV and battery charge at both sites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280160"/>
            <a:ext cx="6949440" cy="3822192"/>
          </a:xfrm>
          <a:prstGeom prst="rect">
            <a:avLst/>
          </a:prstGeom>
        </p:spPr>
      </p:pic>
      <p:sp>
        <p:nvSpPr>
          <p:cNvPr id="6" name="statcard"/>
          <p:cNvSpPr/>
          <p:nvPr/>
        </p:nvSpPr>
        <p:spPr>
          <a:xfrm>
            <a:off x="7863840" y="1371600"/>
            <a:ext cx="3749040" cy="1234440"/>
          </a:xfrm>
          <a:prstGeom prst="roundRect">
            <a:avLst>
              <a:gd name="adj" fmla="val 5926"/>
            </a:avLst>
          </a:prstGeom>
          <a:solidFill>
            <a:srgbClr val="EEF2F6"/>
          </a:solidFill>
          <a:ln w="12700">
            <a:solidFill>
              <a:srgbClr val="EEF2F6"/>
            </a:solidFill>
            <a:prstDash val="solid"/>
          </a:ln>
        </p:spPr>
        <p:txBody>
          <a:bodyPr/>
          <a:lstStyle/>
          <a:p>
            <a:endParaRPr lang="en-RW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3"/>
          <p:cNvSpPr txBox="1"/>
          <p:nvPr/>
        </p:nvSpPr>
        <p:spPr>
          <a:xfrm>
            <a:off x="8001000" y="1444752"/>
            <a:ext cx="3749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C0392B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about 170 h ( 7 days)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4"/>
          <p:cNvSpPr txBox="1"/>
          <p:nvPr/>
        </p:nvSpPr>
        <p:spPr>
          <a:xfrm>
            <a:off x="8001000" y="2084832"/>
            <a:ext cx="3474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B263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AC recorded as zero at 100% battery charge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statcard"/>
          <p:cNvSpPr/>
          <p:nvPr/>
        </p:nvSpPr>
        <p:spPr>
          <a:xfrm>
            <a:off x="7863840" y="2743200"/>
            <a:ext cx="3749040" cy="1234440"/>
          </a:xfrm>
          <a:prstGeom prst="roundRect">
            <a:avLst>
              <a:gd name="adj" fmla="val 5926"/>
            </a:avLst>
          </a:prstGeom>
          <a:solidFill>
            <a:srgbClr val="EEF2F6"/>
          </a:solidFill>
          <a:ln w="12700">
            <a:solidFill>
              <a:srgbClr val="EEF2F6"/>
            </a:solidFill>
            <a:prstDash val="solid"/>
          </a:ln>
        </p:spPr>
        <p:txBody>
          <a:bodyPr/>
          <a:lstStyle/>
          <a:p>
            <a:endParaRPr lang="en-RW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 6"/>
          <p:cNvSpPr txBox="1"/>
          <p:nvPr/>
        </p:nvSpPr>
        <p:spPr>
          <a:xfrm>
            <a:off x="8001000" y="2816352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7A8CA3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145 h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 7"/>
          <p:cNvSpPr txBox="1"/>
          <p:nvPr/>
        </p:nvSpPr>
        <p:spPr>
          <a:xfrm>
            <a:off x="8001000" y="3456432"/>
            <a:ext cx="3474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B263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then no records at all (12 to 18 Sept)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 8"/>
          <p:cNvSpPr txBox="1"/>
          <p:nvPr/>
        </p:nvSpPr>
        <p:spPr>
          <a:xfrm>
            <a:off x="7574280" y="4166135"/>
            <a:ext cx="43281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B263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Availability outside that week: 99% Kigeme, 99.9% Hall.</a:t>
            </a:r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GB" sz="1500" dirty="0">
                <a:solidFill>
                  <a:srgbClr val="1B263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During the outage and other zero-output events, the batteries still had high charge levels</a:t>
            </a:r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GB" sz="1500" dirty="0">
                <a:solidFill>
                  <a:srgbClr val="1B263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week-long </a:t>
            </a:r>
            <a:r>
              <a:rPr lang="en-GB" sz="1500" dirty="0" err="1">
                <a:solidFill>
                  <a:srgbClr val="1B263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Kigeme</a:t>
            </a:r>
            <a:r>
              <a:rPr lang="en-GB" sz="1500" dirty="0">
                <a:solidFill>
                  <a:srgbClr val="1B263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outage occurred while battery charge remained high. Reliability issues were driven by faults, not a lack of solar energy</a:t>
            </a:r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 9"/>
          <p:cNvSpPr txBox="1"/>
          <p:nvPr/>
        </p:nvSpPr>
        <p:spPr>
          <a:xfrm>
            <a:off x="548640" y="5303520"/>
            <a:ext cx="6949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1B263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Likely a tripped inverter, breaker or switch-off. Only the logbook for that week can confirm.</a:t>
            </a:r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rgbClr val="7A8CA3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27432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Spare solar sits at 10:00 to 15:00, not in the morning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1"/>
          <p:cNvSpPr txBox="1"/>
          <p:nvPr/>
        </p:nvSpPr>
        <p:spPr>
          <a:xfrm>
            <a:off x="548640" y="640080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B80"/>
                </a:solidFill>
              </a:rPr>
              <a:t>Source: notebook section 6.1. Median unused PV within each 4-hour window, complete days. 1.2 kWh = six laptops for 4 h.</a:t>
            </a:r>
            <a:endParaRPr lang="en-US" sz="1000" dirty="0"/>
          </a:p>
        </p:txBody>
      </p:sp>
      <p:sp>
        <p:nvSpPr>
          <p:cNvPr id="6" name="statcard"/>
          <p:cNvSpPr/>
          <p:nvPr/>
        </p:nvSpPr>
        <p:spPr>
          <a:xfrm>
            <a:off x="8229600" y="1371600"/>
            <a:ext cx="3383280" cy="1234440"/>
          </a:xfrm>
          <a:prstGeom prst="roundRect">
            <a:avLst>
              <a:gd name="adj" fmla="val 5926"/>
            </a:avLst>
          </a:prstGeom>
          <a:solidFill>
            <a:srgbClr val="EEF2F6"/>
          </a:solidFill>
          <a:ln w="12700">
            <a:solidFill>
              <a:srgbClr val="EEF2F6"/>
            </a:solidFill>
            <a:prstDash val="solid"/>
          </a:ln>
        </p:spPr>
        <p:txBody>
          <a:bodyPr/>
          <a:lstStyle/>
          <a:p>
            <a:endParaRPr lang="en-RW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3"/>
          <p:cNvSpPr txBox="1"/>
          <p:nvPr/>
        </p:nvSpPr>
        <p:spPr>
          <a:xfrm>
            <a:off x="8366760" y="1444752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2A9D8F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70%</a:t>
            </a:r>
            <a:endParaRPr lang="en-US" sz="3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4"/>
          <p:cNvSpPr txBox="1"/>
          <p:nvPr/>
        </p:nvSpPr>
        <p:spPr>
          <a:xfrm>
            <a:off x="8366760" y="2084832"/>
            <a:ext cx="3108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B263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of days have 1.2 kWh or more spare in the best window (both sites)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statcard"/>
          <p:cNvSpPr/>
          <p:nvPr/>
        </p:nvSpPr>
        <p:spPr>
          <a:xfrm>
            <a:off x="8229600" y="2743200"/>
            <a:ext cx="3383280" cy="1234440"/>
          </a:xfrm>
          <a:prstGeom prst="roundRect">
            <a:avLst>
              <a:gd name="adj" fmla="val 5926"/>
            </a:avLst>
          </a:prstGeom>
          <a:solidFill>
            <a:srgbClr val="EEF2F6"/>
          </a:solidFill>
          <a:ln w="12700">
            <a:solidFill>
              <a:srgbClr val="EEF2F6"/>
            </a:solidFill>
            <a:prstDash val="solid"/>
          </a:ln>
        </p:spPr>
        <p:txBody>
          <a:bodyPr/>
          <a:lstStyle/>
          <a:p>
            <a:endParaRPr lang="en-RW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 6"/>
          <p:cNvSpPr txBox="1"/>
          <p:nvPr/>
        </p:nvSpPr>
        <p:spPr>
          <a:xfrm>
            <a:off x="8366760" y="2816352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C0392B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about 0.2 kWh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 7"/>
          <p:cNvSpPr txBox="1"/>
          <p:nvPr/>
        </p:nvSpPr>
        <p:spPr>
          <a:xfrm>
            <a:off x="8366760" y="3456432"/>
            <a:ext cx="3108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B263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spare on the worst 1 in 10 days (10th percentile)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 8"/>
          <p:cNvSpPr txBox="1"/>
          <p:nvPr/>
        </p:nvSpPr>
        <p:spPr>
          <a:xfrm>
            <a:off x="8229600" y="4160520"/>
            <a:ext cx="33832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B263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 a daytime service will fail on roughly 3 days in 10 if it needs the full 1.2 kWh. That is why we propose a rule, not a guarantee.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rgbClr val="7A8CA3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9</a:t>
            </a:fld>
            <a:endParaRPr lang="en-US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2E1B7F0E-2AEC-3818-18B5-9EA357F5A55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9119" y="1226057"/>
            <a:ext cx="7605845" cy="4035754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27432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Hall battery is comfortable until November, then the margin shrinks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1"/>
          <p:cNvSpPr txBox="1"/>
          <p:nvPr/>
        </p:nvSpPr>
        <p:spPr>
          <a:xfrm>
            <a:off x="548640" y="640080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B80"/>
                </a:solidFill>
              </a:rPr>
              <a:t>Source: notebook sections 5 and 8. Share of nights ending below 85% battery charge, by month. SOC is a monitor estimate (plus or minus 10 points).</a:t>
            </a:r>
            <a:endParaRPr lang="en-US" sz="1000" dirty="0"/>
          </a:p>
        </p:txBody>
      </p:sp>
      <p:sp>
        <p:nvSpPr>
          <p:cNvPr id="6" name="statcard"/>
          <p:cNvSpPr/>
          <p:nvPr/>
        </p:nvSpPr>
        <p:spPr>
          <a:xfrm>
            <a:off x="8229600" y="1371600"/>
            <a:ext cx="3383280" cy="1234440"/>
          </a:xfrm>
          <a:prstGeom prst="roundRect">
            <a:avLst>
              <a:gd name="adj" fmla="val 5926"/>
            </a:avLst>
          </a:prstGeom>
          <a:solidFill>
            <a:srgbClr val="EEF2F6"/>
          </a:solidFill>
          <a:ln w="12700">
            <a:solidFill>
              <a:srgbClr val="EEF2F6"/>
            </a:solidFill>
            <a:prstDash val="solid"/>
          </a:ln>
        </p:spPr>
        <p:txBody>
          <a:bodyPr/>
          <a:lstStyle/>
          <a:p>
            <a:endParaRPr lang="en-RW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3"/>
          <p:cNvSpPr txBox="1"/>
          <p:nvPr/>
        </p:nvSpPr>
        <p:spPr>
          <a:xfrm>
            <a:off x="8366760" y="1444752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4A300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0.95 to 2.15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4"/>
          <p:cNvSpPr txBox="1"/>
          <p:nvPr/>
        </p:nvSpPr>
        <p:spPr>
          <a:xfrm>
            <a:off x="8366760" y="2084832"/>
            <a:ext cx="3108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B263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Hall weekly mean demand, first to last week (kWh/day)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statcard"/>
          <p:cNvSpPr/>
          <p:nvPr/>
        </p:nvSpPr>
        <p:spPr>
          <a:xfrm>
            <a:off x="8229600" y="2743200"/>
            <a:ext cx="3383280" cy="1234440"/>
          </a:xfrm>
          <a:prstGeom prst="roundRect">
            <a:avLst>
              <a:gd name="adj" fmla="val 5926"/>
            </a:avLst>
          </a:prstGeom>
          <a:solidFill>
            <a:srgbClr val="EEF2F6"/>
          </a:solidFill>
          <a:ln w="12700">
            <a:solidFill>
              <a:srgbClr val="EEF2F6"/>
            </a:solidFill>
            <a:prstDash val="solid"/>
          </a:ln>
        </p:spPr>
        <p:txBody>
          <a:bodyPr/>
          <a:lstStyle/>
          <a:p>
            <a:endParaRPr lang="en-RW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 6"/>
          <p:cNvSpPr txBox="1"/>
          <p:nvPr/>
        </p:nvSpPr>
        <p:spPr>
          <a:xfrm>
            <a:off x="8366760" y="2816352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C0392B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42%</a:t>
            </a:r>
            <a:endParaRPr lang="en-US" sz="3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 7"/>
          <p:cNvSpPr txBox="1"/>
          <p:nvPr/>
        </p:nvSpPr>
        <p:spPr>
          <a:xfrm>
            <a:off x="8366760" y="3456432"/>
            <a:ext cx="3108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B263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Hall lowest charge (25 Nov): weak sun and demand 60% above normal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 8"/>
          <p:cNvSpPr txBox="1"/>
          <p:nvPr/>
        </p:nvSpPr>
        <p:spPr>
          <a:xfrm>
            <a:off x="8229599" y="4160520"/>
            <a:ext cx="4042611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B263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Kigeme never fell below about 79%. No zero   output occurred at low charge, so there was no lost service, only a thinner margin.</a:t>
            </a:r>
          </a:p>
          <a:p>
            <a:pPr marL="0" indent="0">
              <a:buNone/>
            </a:pPr>
            <a:endParaRPr lang="en-US" sz="1400" dirty="0">
              <a:solidFill>
                <a:srgbClr val="1B263B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RW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Even at its lowest level, </a:t>
            </a:r>
            <a:r>
              <a:rPr lang="en-RW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Kigeme's</a:t>
            </a:r>
            <a:r>
              <a:rPr lang="en-RW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battery remained well charged, ensuring uninterrupted service</a:t>
            </a:r>
            <a:endParaRPr lang="en-GB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GB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RW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Kigeme</a:t>
            </a:r>
            <a:r>
              <a:rPr lang="en-RW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never experienced power loss due to a low battery, indicating sufficient energy capacity</a:t>
            </a:r>
          </a:p>
          <a:p>
            <a:endParaRPr lang="en-RW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sz="1400" dirty="0">
              <a:solidFill>
                <a:srgbClr val="1B263B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sz="1400" dirty="0">
              <a:solidFill>
                <a:srgbClr val="1B263B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sz="1400" dirty="0">
              <a:solidFill>
                <a:srgbClr val="1B263B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sz="1400" dirty="0">
              <a:solidFill>
                <a:srgbClr val="1B263B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rgbClr val="7A8CA3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10</a:t>
            </a:fld>
            <a:endParaRPr lang="en-US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5B3566DC-A200-6947-E811-F0466F91846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8978" y="1283368"/>
            <a:ext cx="7781476" cy="4746002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27432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Hall's planning number is the low end: 0.3 to 3.7 kWh, depending on the reserve floor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1"/>
          <p:cNvSpPr txBox="1"/>
          <p:nvPr/>
        </p:nvSpPr>
        <p:spPr>
          <a:xfrm>
            <a:off x="548640" y="640080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B80"/>
                </a:solidFill>
              </a:rPr>
              <a:t>Source: notebook section D.2 (256 Hall mornings; median dawn charge 90.4%, 5th percentile 73.4%; inverter efficiency 0.85).</a:t>
            </a:r>
            <a:endParaRPr lang="en-US" sz="1000" dirty="0"/>
          </a:p>
        </p:txBody>
      </p:sp>
      <p:sp>
        <p:nvSpPr>
          <p:cNvPr id="6" name="statcard"/>
          <p:cNvSpPr/>
          <p:nvPr/>
        </p:nvSpPr>
        <p:spPr>
          <a:xfrm>
            <a:off x="8229600" y="1371600"/>
            <a:ext cx="3383280" cy="1234440"/>
          </a:xfrm>
          <a:prstGeom prst="roundRect">
            <a:avLst>
              <a:gd name="adj" fmla="val 5926"/>
            </a:avLst>
          </a:prstGeom>
          <a:solidFill>
            <a:srgbClr val="EEF2F6"/>
          </a:solidFill>
          <a:ln w="12700">
            <a:solidFill>
              <a:srgbClr val="EEF2F6"/>
            </a:solidFill>
            <a:prstDash val="solid"/>
          </a:ln>
        </p:spPr>
        <p:txBody>
          <a:bodyPr/>
          <a:lstStyle/>
          <a:p>
            <a:endParaRPr lang="en-RW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3"/>
          <p:cNvSpPr txBox="1"/>
          <p:nvPr/>
        </p:nvSpPr>
        <p:spPr>
          <a:xfrm>
            <a:off x="8366760" y="1444752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7A8CA3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6.0 kWh</a:t>
            </a:r>
            <a:endParaRPr lang="en-US" sz="3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4"/>
          <p:cNvSpPr txBox="1"/>
          <p:nvPr/>
        </p:nvSpPr>
        <p:spPr>
          <a:xfrm>
            <a:off x="8366760" y="2084832"/>
            <a:ext cx="3108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B263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headroom with a generous 30% floor and all months averaged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statcard"/>
          <p:cNvSpPr/>
          <p:nvPr/>
        </p:nvSpPr>
        <p:spPr>
          <a:xfrm>
            <a:off x="8229600" y="2743200"/>
            <a:ext cx="3383280" cy="1234440"/>
          </a:xfrm>
          <a:prstGeom prst="roundRect">
            <a:avLst>
              <a:gd name="adj" fmla="val 5926"/>
            </a:avLst>
          </a:prstGeom>
          <a:solidFill>
            <a:srgbClr val="EEF2F6"/>
          </a:solidFill>
          <a:ln w="12700">
            <a:solidFill>
              <a:srgbClr val="EEF2F6"/>
            </a:solidFill>
            <a:prstDash val="solid"/>
          </a:ln>
        </p:spPr>
        <p:txBody>
          <a:bodyPr/>
          <a:lstStyle/>
          <a:p>
            <a:endParaRPr lang="en-RW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 6"/>
          <p:cNvSpPr txBox="1"/>
          <p:nvPr/>
        </p:nvSpPr>
        <p:spPr>
          <a:xfrm>
            <a:off x="8366760" y="2816352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C0392B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about 1 kWh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 7"/>
          <p:cNvSpPr txBox="1"/>
          <p:nvPr/>
        </p:nvSpPr>
        <p:spPr>
          <a:xfrm>
            <a:off x="8366760" y="3456432"/>
            <a:ext cx="3108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B263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error from plus or minus 10 SOC points on a 10.6 kWh battery (our arithmetic)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 8"/>
          <p:cNvSpPr txBox="1"/>
          <p:nvPr/>
        </p:nvSpPr>
        <p:spPr>
          <a:xfrm>
            <a:off x="8229600" y="4160520"/>
            <a:ext cx="33832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B263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1.2 kWh daytime load is the same size as the uncertainty in the Hall's battery reading.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rgbClr val="7A8CA3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11</a:t>
            </a:fld>
            <a:endParaRPr lang="en-US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4F1C9C8E-87D9-79F3-45CF-5E6BC5D219E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5618" y="1243914"/>
            <a:ext cx="7073565" cy="3713257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C8481EC2-D345-A643-3E2D-16D403D8CD04}"/>
              </a:ext>
            </a:extLst>
          </p:cNvPr>
          <p:cNvSpPr txBox="1"/>
          <p:nvPr/>
        </p:nvSpPr>
        <p:spPr>
          <a:xfrm>
            <a:off x="5181600" y="5117068"/>
            <a:ext cx="6096000" cy="6924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RW" sz="1300" b="1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Flipping the reserve floor from 50% to 70% everything else fixed  changes Hall spare from 2.1 to 0.3 kWh (5th percentile). The planning number is 0.3–3.7 kWh.</a:t>
            </a:r>
            <a:br>
              <a:rPr lang="en-RW" sz="1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RW" sz="13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508BD41-6400-107E-C611-8E67499839A4}"/>
              </a:ext>
            </a:extLst>
          </p:cNvPr>
          <p:cNvSpPr txBox="1"/>
          <p:nvPr/>
        </p:nvSpPr>
        <p:spPr>
          <a:xfrm>
            <a:off x="700216" y="5738629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RW" sz="1200" i="0" dirty="0">
                <a:solidFill>
                  <a:schemeClr val="tx1"/>
                </a:solidFill>
                <a:effectLst/>
                <a:latin typeface="+mn-lt"/>
              </a:rPr>
              <a:t>Why the floor matters: A higher floor keeps more reserve for cloudy days but leaves less spare for new services. The facility manager chooses the floor; the spare energy follows</a:t>
            </a:r>
            <a:endParaRPr lang="en-RW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27432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At the Hall, six laptops without a rule push the battery below its floor 4x more often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1"/>
          <p:cNvSpPr txBox="1"/>
          <p:nvPr/>
        </p:nvSpPr>
        <p:spPr>
          <a:xfrm>
            <a:off x="548640" y="640080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B80"/>
                </a:solidFill>
              </a:rPr>
              <a:t>Source: notebook section 9.1, replay with load added; floor 50%. With-rule scenario runs the load only while charge is 85% or higher.</a:t>
            </a:r>
            <a:endParaRPr lang="en-US" sz="1000" dirty="0"/>
          </a:p>
        </p:txBody>
      </p:sp>
      <p:sp>
        <p:nvSpPr>
          <p:cNvPr id="6" name="statcard"/>
          <p:cNvSpPr/>
          <p:nvPr/>
        </p:nvSpPr>
        <p:spPr>
          <a:xfrm>
            <a:off x="8503920" y="1371600"/>
            <a:ext cx="3108960" cy="1234440"/>
          </a:xfrm>
          <a:prstGeom prst="roundRect">
            <a:avLst>
              <a:gd name="adj" fmla="val 5926"/>
            </a:avLst>
          </a:prstGeom>
          <a:solidFill>
            <a:srgbClr val="EEF2F6"/>
          </a:solidFill>
          <a:ln w="12700">
            <a:solidFill>
              <a:srgbClr val="EEF2F6"/>
            </a:solidFill>
            <a:prstDash val="solid"/>
          </a:ln>
        </p:spPr>
        <p:txBody>
          <a:bodyPr/>
          <a:lstStyle/>
          <a:p>
            <a:endParaRPr lang="en-RW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3"/>
          <p:cNvSpPr txBox="1"/>
          <p:nvPr/>
        </p:nvSpPr>
        <p:spPr>
          <a:xfrm>
            <a:off x="8641080" y="1444752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2A9D8F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1.6%</a:t>
            </a:r>
            <a:endParaRPr lang="en-US" sz="3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4"/>
          <p:cNvSpPr txBox="1"/>
          <p:nvPr/>
        </p:nvSpPr>
        <p:spPr>
          <a:xfrm>
            <a:off x="8641080" y="2084832"/>
            <a:ext cx="2834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B263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days below floor with the 85% rule: same as baseline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statcard"/>
          <p:cNvSpPr/>
          <p:nvPr/>
        </p:nvSpPr>
        <p:spPr>
          <a:xfrm>
            <a:off x="8503920" y="2743200"/>
            <a:ext cx="3108960" cy="1234440"/>
          </a:xfrm>
          <a:prstGeom prst="roundRect">
            <a:avLst>
              <a:gd name="adj" fmla="val 5926"/>
            </a:avLst>
          </a:prstGeom>
          <a:solidFill>
            <a:srgbClr val="EEF2F6"/>
          </a:solidFill>
          <a:ln w="12700">
            <a:solidFill>
              <a:srgbClr val="EEF2F6"/>
            </a:solidFill>
            <a:prstDash val="solid"/>
          </a:ln>
        </p:spPr>
        <p:txBody>
          <a:bodyPr/>
          <a:lstStyle/>
          <a:p>
            <a:endParaRPr lang="en-RW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 6"/>
          <p:cNvSpPr txBox="1"/>
          <p:nvPr/>
        </p:nvSpPr>
        <p:spPr>
          <a:xfrm>
            <a:off x="8641080" y="2816352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F5FA8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85%</a:t>
            </a:r>
            <a:endParaRPr lang="en-US" sz="3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 7"/>
          <p:cNvSpPr txBox="1"/>
          <p:nvPr/>
        </p:nvSpPr>
        <p:spPr>
          <a:xfrm>
            <a:off x="8641080" y="3456432"/>
            <a:ext cx="2834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B263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of the laptop service still delivered under the rule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 8"/>
          <p:cNvSpPr txBox="1"/>
          <p:nvPr/>
        </p:nvSpPr>
        <p:spPr>
          <a:xfrm>
            <a:off x="8503920" y="4160520"/>
            <a:ext cx="31089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B263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Low-sun stress, no rule: 20% of days below floor, 30 kWh unserved.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B263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Kigeme: 0% days below floor in all cases; full-recharge days fall 95% to 84%.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rgbClr val="7A8CA3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12</a:t>
            </a:fld>
            <a:endParaRPr lang="en-US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36D2B88F-DE75-4196-D54B-461DCF9F197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0816" y="1413630"/>
            <a:ext cx="8006262" cy="3936412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27432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Power is not the limit for laptops or phones, but irons are out at Kigeme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1"/>
          <p:cNvSpPr txBox="1"/>
          <p:nvPr/>
        </p:nvSpPr>
        <p:spPr>
          <a:xfrm>
            <a:off x="548640" y="640080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B80"/>
                </a:solidFill>
              </a:rPr>
              <a:t>Source: notebook sections 9 and D.4. 40 C inverter rating: Kigeme about 900 W, Hall 2,200 W. Hourly data hides start-up surges.</a:t>
            </a:r>
            <a:endParaRPr lang="en-US" sz="10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64240" cy="3340608"/>
        </p:xfrm>
        <a:graphic>
          <a:graphicData uri="http://schemas.openxmlformats.org/drawingml/2006/table">
            <a:tbl>
              <a:tblPr/>
              <a:tblGrid>
                <a:gridCol w="30175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9202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Scenario</a:t>
                      </a:r>
                      <a:endParaRPr lang="en-US" sz="1300" dirty="0"/>
                    </a:p>
                  </a:txBody>
                  <a:tcPr anchor="ctr">
                    <a:lnL w="1270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Kigeme headroom (W, 5th pct)</a:t>
                      </a:r>
                      <a:endParaRPr lang="en-US" sz="1300" dirty="0"/>
                    </a:p>
                  </a:txBody>
                  <a:tcPr anchor="ctr">
                    <a:lnL w="1270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Kigeme time over limit</a:t>
                      </a:r>
                      <a:endParaRPr lang="en-US" sz="1300" dirty="0"/>
                    </a:p>
                  </a:txBody>
                  <a:tcPr anchor="ctr">
                    <a:lnL w="1270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Hall headroom (W, 5th pct)</a:t>
                      </a:r>
                      <a:endParaRPr lang="en-US" sz="1300" dirty="0"/>
                    </a:p>
                  </a:txBody>
                  <a:tcPr anchor="ctr">
                    <a:lnL w="1270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Hall time over limit</a:t>
                      </a:r>
                      <a:endParaRPr lang="en-US" sz="1300" dirty="0"/>
                    </a:p>
                  </a:txBody>
                  <a:tcPr anchor="ctr">
                    <a:lnL w="1270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B263B"/>
                          </a:solidFill>
                        </a:rPr>
                        <a:t>6 laptops 09-13</a:t>
                      </a:r>
                      <a:endParaRPr lang="en-US" sz="1300" dirty="0"/>
                    </a:p>
                  </a:txBody>
                  <a:tcPr anchor="ctr">
                    <a:lnL w="1270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B263B"/>
                          </a:solidFill>
                        </a:rPr>
                        <a:t>767</a:t>
                      </a:r>
                      <a:endParaRPr lang="en-US" sz="1300" dirty="0"/>
                    </a:p>
                  </a:txBody>
                  <a:tcPr anchor="ctr">
                    <a:lnL w="1270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B263B"/>
                          </a:solidFill>
                        </a:rPr>
                        <a:t>0.1%</a:t>
                      </a:r>
                      <a:endParaRPr lang="en-US" sz="1300" dirty="0"/>
                    </a:p>
                  </a:txBody>
                  <a:tcPr anchor="ctr">
                    <a:lnL w="1270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B263B"/>
                          </a:solidFill>
                        </a:rPr>
                        <a:t>1,882</a:t>
                      </a:r>
                      <a:endParaRPr lang="en-US" sz="1300" dirty="0"/>
                    </a:p>
                  </a:txBody>
                  <a:tcPr anchor="ctr">
                    <a:lnL w="1270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B263B"/>
                          </a:solidFill>
                        </a:rPr>
                        <a:t>0%</a:t>
                      </a:r>
                      <a:endParaRPr lang="en-US" sz="1300" dirty="0"/>
                    </a:p>
                  </a:txBody>
                  <a:tcPr anchor="ctr">
                    <a:lnL w="1270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B263B"/>
                          </a:solidFill>
                        </a:rPr>
                        <a:t>6 laptops 18-22</a:t>
                      </a:r>
                      <a:endParaRPr lang="en-US" sz="1300" dirty="0"/>
                    </a:p>
                  </a:txBody>
                  <a:tcPr anchor="ctr">
                    <a:lnL w="1270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B263B"/>
                          </a:solidFill>
                        </a:rPr>
                        <a:t>535</a:t>
                      </a:r>
                      <a:endParaRPr lang="en-US" sz="1300" dirty="0"/>
                    </a:p>
                  </a:txBody>
                  <a:tcPr anchor="ctr">
                    <a:lnL w="1270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B263B"/>
                          </a:solidFill>
                        </a:rPr>
                        <a:t>0%</a:t>
                      </a:r>
                      <a:endParaRPr lang="en-US" sz="1300" dirty="0"/>
                    </a:p>
                  </a:txBody>
                  <a:tcPr anchor="ctr">
                    <a:lnL w="1270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B263B"/>
                          </a:solidFill>
                        </a:rPr>
                        <a:t>1,277</a:t>
                      </a:r>
                      <a:endParaRPr lang="en-US" sz="1300" dirty="0"/>
                    </a:p>
                  </a:txBody>
                  <a:tcPr anchor="ctr">
                    <a:lnL w="1270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B263B"/>
                          </a:solidFill>
                        </a:rPr>
                        <a:t>0%</a:t>
                      </a:r>
                      <a:endParaRPr lang="en-US" sz="1300" dirty="0"/>
                    </a:p>
                  </a:txBody>
                  <a:tcPr anchor="ctr">
                    <a:lnL w="1270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B263B"/>
                          </a:solidFill>
                        </a:rPr>
                        <a:t>Phone charging 16-20</a:t>
                      </a:r>
                      <a:endParaRPr lang="en-US" sz="1300" dirty="0"/>
                    </a:p>
                  </a:txBody>
                  <a:tcPr anchor="ctr">
                    <a:lnL w="1270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B263B"/>
                          </a:solidFill>
                        </a:rPr>
                        <a:t>549</a:t>
                      </a:r>
                      <a:endParaRPr lang="en-US" sz="1300" dirty="0"/>
                    </a:p>
                  </a:txBody>
                  <a:tcPr anchor="ctr">
                    <a:lnL w="1270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B263B"/>
                          </a:solidFill>
                        </a:rPr>
                        <a:t>0%</a:t>
                      </a:r>
                      <a:endParaRPr lang="en-US" sz="1300" dirty="0"/>
                    </a:p>
                  </a:txBody>
                  <a:tcPr anchor="ctr">
                    <a:lnL w="1270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B263B"/>
                          </a:solidFill>
                        </a:rPr>
                        <a:t>1,317</a:t>
                      </a:r>
                      <a:endParaRPr lang="en-US" sz="1300" dirty="0"/>
                    </a:p>
                  </a:txBody>
                  <a:tcPr anchor="ctr">
                    <a:lnL w="1270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B263B"/>
                          </a:solidFill>
                        </a:rPr>
                        <a:t>0%</a:t>
                      </a:r>
                      <a:endParaRPr lang="en-US" sz="1300" dirty="0"/>
                    </a:p>
                  </a:txBody>
                  <a:tcPr anchor="ctr">
                    <a:lnL w="1270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B263B"/>
                          </a:solidFill>
                        </a:rPr>
                        <a:t>Sound system 200 W, 18-23</a:t>
                      </a:r>
                      <a:endParaRPr lang="en-US" sz="1300" dirty="0"/>
                    </a:p>
                  </a:txBody>
                  <a:tcPr anchor="ctr">
                    <a:lnL w="1270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B263B"/>
                          </a:solidFill>
                        </a:rPr>
                        <a:t>n/a</a:t>
                      </a:r>
                      <a:endParaRPr lang="en-US" sz="1300" dirty="0"/>
                    </a:p>
                  </a:txBody>
                  <a:tcPr anchor="ctr">
                    <a:lnL w="1270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B263B"/>
                          </a:solidFill>
                        </a:rPr>
                        <a:t>n/a</a:t>
                      </a:r>
                      <a:endParaRPr lang="en-US" sz="1300" dirty="0"/>
                    </a:p>
                  </a:txBody>
                  <a:tcPr anchor="ctr">
                    <a:lnL w="1270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B263B"/>
                          </a:solidFill>
                        </a:rPr>
                        <a:t>1,288</a:t>
                      </a:r>
                      <a:endParaRPr lang="en-US" sz="1300" dirty="0"/>
                    </a:p>
                  </a:txBody>
                  <a:tcPr anchor="ctr">
                    <a:lnL w="1270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B263B"/>
                          </a:solidFill>
                        </a:rPr>
                        <a:t>0%</a:t>
                      </a:r>
                      <a:endParaRPr lang="en-US" sz="1300" dirty="0"/>
                    </a:p>
                  </a:txBody>
                  <a:tcPr anchor="ctr">
                    <a:lnL w="1270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B263B"/>
                          </a:solidFill>
                        </a:rPr>
                        <a:t>1 iron 12-13</a:t>
                      </a:r>
                      <a:endParaRPr lang="en-US" sz="1300" dirty="0"/>
                    </a:p>
                  </a:txBody>
                  <a:tcPr anchor="ctr">
                    <a:lnL w="1270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B263B"/>
                          </a:solidFill>
                        </a:rPr>
                        <a:t>781</a:t>
                      </a:r>
                      <a:endParaRPr lang="en-US" sz="1300" dirty="0"/>
                    </a:p>
                  </a:txBody>
                  <a:tcPr anchor="ctr">
                    <a:lnL w="1270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C0392B"/>
                          </a:solidFill>
                        </a:rPr>
                        <a:t>100%</a:t>
                      </a:r>
                      <a:endParaRPr lang="en-US" sz="1300" dirty="0"/>
                    </a:p>
                  </a:txBody>
                  <a:tcPr anchor="ctr">
                    <a:lnL w="1270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B263B"/>
                          </a:solidFill>
                        </a:rPr>
                        <a:t>1,896</a:t>
                      </a:r>
                      <a:endParaRPr lang="en-US" sz="1300" dirty="0"/>
                    </a:p>
                  </a:txBody>
                  <a:tcPr anchor="ctr">
                    <a:lnL w="1270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B263B"/>
                          </a:solidFill>
                        </a:rPr>
                        <a:t>0.01%</a:t>
                      </a:r>
                      <a:endParaRPr lang="en-US" sz="1300" dirty="0"/>
                    </a:p>
                  </a:txBody>
                  <a:tcPr anchor="ctr">
                    <a:lnL w="1270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B263B"/>
                          </a:solidFill>
                        </a:rPr>
                        <a:t>2 irons 12-13</a:t>
                      </a:r>
                      <a:endParaRPr lang="en-US" sz="1300" dirty="0"/>
                    </a:p>
                  </a:txBody>
                  <a:tcPr anchor="ctr">
                    <a:lnL w="1270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B263B"/>
                          </a:solidFill>
                        </a:rPr>
                        <a:t>781</a:t>
                      </a:r>
                      <a:endParaRPr lang="en-US" sz="1300" dirty="0"/>
                    </a:p>
                  </a:txBody>
                  <a:tcPr anchor="ctr">
                    <a:lnL w="1270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C0392B"/>
                          </a:solidFill>
                        </a:rPr>
                        <a:t>100%</a:t>
                      </a:r>
                      <a:endParaRPr lang="en-US" sz="1300" dirty="0"/>
                    </a:p>
                  </a:txBody>
                  <a:tcPr anchor="ctr">
                    <a:lnL w="1270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B263B"/>
                          </a:solidFill>
                        </a:rPr>
                        <a:t>1,896</a:t>
                      </a:r>
                      <a:endParaRPr lang="en-US" sz="1300" dirty="0"/>
                    </a:p>
                  </a:txBody>
                  <a:tcPr anchor="ctr">
                    <a:lnL w="1270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C0392B"/>
                          </a:solidFill>
                        </a:rPr>
                        <a:t>7.3%</a:t>
                      </a:r>
                      <a:endParaRPr lang="en-US" sz="1300" dirty="0"/>
                    </a:p>
                  </a:txBody>
                  <a:tcPr anchor="ctr">
                    <a:lnL w="1270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6" name="Text 2"/>
          <p:cNvSpPr txBox="1"/>
          <p:nvPr/>
        </p:nvSpPr>
        <p:spPr>
          <a:xfrm>
            <a:off x="548640" y="4937760"/>
            <a:ext cx="11064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B263B"/>
                </a:solidFill>
              </a:rPr>
              <a:t>Kigeme's 99.9th percentile draw is about 400 W, but isolated spikes reach about 3.1 kW. The rating in the case table may be incomplete, so Kigeme power conclusions are provisional.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B263B"/>
                </a:solidFill>
              </a:rPr>
              <a:t>Linking those spikes to irons is circumstantial: the dataset has no appliance log.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rgbClr val="7A8CA3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363354" y="34787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RW" dirty="0"/>
              <a:t>Service is limited by repairs and sockets, not by energy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1"/>
          <p:cNvSpPr txBox="1"/>
          <p:nvPr/>
        </p:nvSpPr>
        <p:spPr>
          <a:xfrm>
            <a:off x="548640" y="640080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B80"/>
                </a:solidFill>
              </a:rPr>
              <a:t>Part B. Anomaly = device-week dark more than 95% and 25+ points above its own baseline. 63 anomalies (59 Kigeme, 4 Hall).</a:t>
            </a:r>
            <a:endParaRPr lang="en-US" sz="1000" dirty="0"/>
          </a:p>
        </p:txBody>
      </p:sp>
      <p:sp>
        <p:nvSpPr>
          <p:cNvPr id="6" name="statcard"/>
          <p:cNvSpPr/>
          <p:nvPr/>
        </p:nvSpPr>
        <p:spPr>
          <a:xfrm>
            <a:off x="7909560" y="1474486"/>
            <a:ext cx="3931920" cy="1234440"/>
          </a:xfrm>
          <a:prstGeom prst="roundRect">
            <a:avLst>
              <a:gd name="adj" fmla="val 5926"/>
            </a:avLst>
          </a:prstGeom>
          <a:solidFill>
            <a:srgbClr val="EEF2F6"/>
          </a:solidFill>
          <a:ln w="12700">
            <a:solidFill>
              <a:srgbClr val="EEF2F6"/>
            </a:solidFill>
            <a:prstDash val="solid"/>
          </a:ln>
        </p:spPr>
        <p:txBody>
          <a:bodyPr/>
          <a:lstStyle/>
          <a:p>
            <a:endParaRPr lang="en-RW" sz="15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3"/>
          <p:cNvSpPr txBox="1"/>
          <p:nvPr/>
        </p:nvSpPr>
        <p:spPr>
          <a:xfrm>
            <a:off x="8046720" y="1547638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F5FA8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2.6% vs 0.5%</a:t>
            </a:r>
            <a:endParaRPr lang="en-US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4"/>
          <p:cNvSpPr txBox="1"/>
          <p:nvPr/>
        </p:nvSpPr>
        <p:spPr>
          <a:xfrm>
            <a:off x="8046720" y="2187718"/>
            <a:ext cx="3657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1B263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anomalous device-weeks, Kigeme (59 of 2,261) vs Hall (4 of 870)</a:t>
            </a:r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statcard"/>
          <p:cNvSpPr/>
          <p:nvPr/>
        </p:nvSpPr>
        <p:spPr>
          <a:xfrm>
            <a:off x="7909560" y="2846086"/>
            <a:ext cx="3931920" cy="1234440"/>
          </a:xfrm>
          <a:prstGeom prst="roundRect">
            <a:avLst>
              <a:gd name="adj" fmla="val 5926"/>
            </a:avLst>
          </a:prstGeom>
          <a:solidFill>
            <a:srgbClr val="EEF2F6"/>
          </a:solidFill>
          <a:ln w="12700">
            <a:solidFill>
              <a:srgbClr val="EEF2F6"/>
            </a:solidFill>
            <a:prstDash val="solid"/>
          </a:ln>
        </p:spPr>
        <p:txBody>
          <a:bodyPr/>
          <a:lstStyle/>
          <a:p>
            <a:endParaRPr lang="en-RW" sz="15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 6"/>
          <p:cNvSpPr txBox="1"/>
          <p:nvPr/>
        </p:nvSpPr>
        <p:spPr>
          <a:xfrm>
            <a:off x="8046720" y="2919238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C0392B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27 of 93 weeks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 7"/>
          <p:cNvSpPr txBox="1"/>
          <p:nvPr/>
        </p:nvSpPr>
        <p:spPr>
          <a:xfrm>
            <a:off x="8046720" y="3559318"/>
            <a:ext cx="3657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1B263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CPE10 (Nursery 2B) confirmed dark, since 29 Oct 2019</a:t>
            </a:r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 8"/>
          <p:cNvSpPr txBox="1"/>
          <p:nvPr/>
        </p:nvSpPr>
        <p:spPr>
          <a:xfrm>
            <a:off x="7680960" y="4160520"/>
            <a:ext cx="39319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rgbClr val="7A8CA3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14</a:t>
            </a:fld>
            <a:endParaRPr lang="en-US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E0FE2769-B340-A4D7-704D-DDBF11BE00E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610" y="1227221"/>
            <a:ext cx="7847950" cy="3401860"/>
          </a:xfrm>
          <a:prstGeom prst="rect">
            <a:avLst/>
          </a:prstGeom>
        </p:spPr>
      </p:pic>
      <p:sp>
        <p:nvSpPr>
          <p:cNvPr id="17" name="statcard">
            <a:extLst>
              <a:ext uri="{FF2B5EF4-FFF2-40B4-BE49-F238E27FC236}">
                <a16:creationId xmlns:a16="http://schemas.microsoft.com/office/drawing/2014/main" id="{B7B1D114-158F-E0A8-D027-CD6E55FDAFFE}"/>
              </a:ext>
            </a:extLst>
          </p:cNvPr>
          <p:cNvSpPr/>
          <p:nvPr/>
        </p:nvSpPr>
        <p:spPr>
          <a:xfrm>
            <a:off x="8001000" y="4361688"/>
            <a:ext cx="3749040" cy="1234440"/>
          </a:xfrm>
          <a:prstGeom prst="roundRect">
            <a:avLst>
              <a:gd name="adj" fmla="val 5926"/>
            </a:avLst>
          </a:prstGeom>
          <a:solidFill>
            <a:srgbClr val="EEF2F6"/>
          </a:solidFill>
          <a:ln w="12700">
            <a:solidFill>
              <a:srgbClr val="EEF2F6"/>
            </a:solidFill>
            <a:prstDash val="solid"/>
          </a:ln>
        </p:spPr>
        <p:txBody>
          <a:bodyPr/>
          <a:lstStyle/>
          <a:p>
            <a:endParaRPr lang="en-RW" sz="15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Text 3">
            <a:extLst>
              <a:ext uri="{FF2B5EF4-FFF2-40B4-BE49-F238E27FC236}">
                <a16:creationId xmlns:a16="http://schemas.microsoft.com/office/drawing/2014/main" id="{B5071FC1-E430-78F4-FD51-666ABD909A75}"/>
              </a:ext>
            </a:extLst>
          </p:cNvPr>
          <p:cNvSpPr txBox="1"/>
          <p:nvPr/>
        </p:nvSpPr>
        <p:spPr>
          <a:xfrm>
            <a:off x="8138160" y="4434840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C0392B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5% / 23%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Text 4">
            <a:extLst>
              <a:ext uri="{FF2B5EF4-FFF2-40B4-BE49-F238E27FC236}">
                <a16:creationId xmlns:a16="http://schemas.microsoft.com/office/drawing/2014/main" id="{CCBFDCC8-301A-AA12-C15D-7C50A9E19C6A}"/>
              </a:ext>
            </a:extLst>
          </p:cNvPr>
          <p:cNvSpPr txBox="1"/>
          <p:nvPr/>
        </p:nvSpPr>
        <p:spPr>
          <a:xfrm>
            <a:off x="8138160" y="5074920"/>
            <a:ext cx="3474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1B263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share of system AC that meters explain: Kigeme / Hall</a:t>
            </a:r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12A0DCD0-29EC-CF3F-AF81-AD4AC9500659}"/>
              </a:ext>
            </a:extLst>
          </p:cNvPr>
          <p:cNvSpPr txBox="1"/>
          <p:nvPr/>
        </p:nvSpPr>
        <p:spPr>
          <a:xfrm>
            <a:off x="579120" y="4880541"/>
            <a:ext cx="7284720" cy="14516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B263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About 95% of </a:t>
            </a:r>
            <a:r>
              <a:rPr lang="en-US" sz="1500" dirty="0" err="1">
                <a:solidFill>
                  <a:srgbClr val="1B263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Kigeme's</a:t>
            </a:r>
            <a:r>
              <a:rPr lang="en-US" sz="1500" dirty="0">
                <a:solidFill>
                  <a:srgbClr val="1B263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load is not attributed to any meter, so we cannot judge needs per device there.</a:t>
            </a:r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B263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Each extra metered socket costs 50 to 75 </a:t>
            </a:r>
            <a:r>
              <a:rPr lang="en-US" sz="1500" dirty="0" err="1">
                <a:solidFill>
                  <a:srgbClr val="1B263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</a:t>
            </a:r>
            <a:r>
              <a:rPr lang="en-US" sz="1500" dirty="0">
                <a:solidFill>
                  <a:srgbClr val="1B263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/day. Ten sockets use 0.5 to 0.75 kWh/day, about what the phone charging they enable would draw.</a:t>
            </a:r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B263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Sound system and chairs are facilities needs that power data cannot size.</a:t>
            </a:r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27432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Our question, and what we recommend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1"/>
          <p:cNvSpPr txBox="1"/>
          <p:nvPr/>
        </p:nvSpPr>
        <p:spPr>
          <a:xfrm>
            <a:off x="548640" y="640080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B8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Basis: Part E of the combined notebook (answers to Q1 to Q3).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qbox"/>
          <p:cNvSpPr/>
          <p:nvPr/>
        </p:nvSpPr>
        <p:spPr>
          <a:xfrm>
            <a:off x="548640" y="1325880"/>
            <a:ext cx="11064240" cy="1143000"/>
          </a:xfrm>
          <a:prstGeom prst="roundRect">
            <a:avLst>
              <a:gd name="adj" fmla="val 6400"/>
            </a:avLst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/>
          <a:lstStyle/>
          <a:p>
            <a:endParaRPr lang="en-RW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3"/>
          <p:cNvSpPr txBox="1"/>
          <p:nvPr/>
        </p:nvSpPr>
        <p:spPr>
          <a:xfrm>
            <a:off x="777240" y="1371600"/>
            <a:ext cx="106070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Question (Q3): </a:t>
            </a:r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Could spare capacity support additional services with limited investment? Q1 (is it performing?) and Q2 (is it meeting needs?) tell us whether that is safe.</a:t>
            </a:r>
          </a:p>
        </p:txBody>
      </p:sp>
      <p:sp>
        <p:nvSpPr>
          <p:cNvPr id="7" name="reccard"/>
          <p:cNvSpPr/>
          <p:nvPr/>
        </p:nvSpPr>
        <p:spPr>
          <a:xfrm>
            <a:off x="548640" y="2743200"/>
            <a:ext cx="3566160" cy="3383280"/>
          </a:xfrm>
          <a:prstGeom prst="roundRect">
            <a:avLst>
              <a:gd name="adj" fmla="val 2162"/>
            </a:avLst>
          </a:prstGeom>
          <a:solidFill>
            <a:srgbClr val="EEF2F6"/>
          </a:solidFill>
          <a:ln w="12700">
            <a:solidFill>
              <a:srgbClr val="EEF2F6"/>
            </a:solidFill>
            <a:prstDash val="solid"/>
          </a:ln>
        </p:spPr>
        <p:txBody>
          <a:bodyPr/>
          <a:lstStyle/>
          <a:p>
            <a:endParaRPr lang="en-RW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num"/>
          <p:cNvSpPr/>
          <p:nvPr/>
        </p:nvSpPr>
        <p:spPr>
          <a:xfrm>
            <a:off x="777240" y="2971800"/>
            <a:ext cx="548640" cy="548640"/>
          </a:xfrm>
          <a:prstGeom prst="ellipse">
            <a:avLst/>
          </a:prstGeom>
          <a:solidFill>
            <a:srgbClr val="1F5FA8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RW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6"/>
          <p:cNvSpPr txBox="1"/>
          <p:nvPr/>
        </p:nvSpPr>
        <p:spPr>
          <a:xfrm>
            <a:off x="777240" y="29718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 7"/>
          <p:cNvSpPr txBox="1"/>
          <p:nvPr/>
        </p:nvSpPr>
        <p:spPr>
          <a:xfrm>
            <a:off x="1463040" y="297180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B2545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Repair first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 8"/>
          <p:cNvSpPr txBox="1"/>
          <p:nvPr/>
        </p:nvSpPr>
        <p:spPr>
          <a:xfrm>
            <a:off x="777240" y="3749040"/>
            <a:ext cx="31089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1B263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Fix the dark fixtures (Nursery 2B CPE10, playground, Streetlight 1) before adding anything. Lost service is the cheapest capacity to recover.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reccard"/>
          <p:cNvSpPr/>
          <p:nvPr/>
        </p:nvSpPr>
        <p:spPr>
          <a:xfrm>
            <a:off x="4297680" y="2743200"/>
            <a:ext cx="3566160" cy="3383280"/>
          </a:xfrm>
          <a:prstGeom prst="roundRect">
            <a:avLst>
              <a:gd name="adj" fmla="val 2162"/>
            </a:avLst>
          </a:prstGeom>
          <a:solidFill>
            <a:srgbClr val="EEF2F6"/>
          </a:solidFill>
          <a:ln w="12700">
            <a:solidFill>
              <a:srgbClr val="EEF2F6"/>
            </a:solidFill>
            <a:prstDash val="solid"/>
          </a:ln>
        </p:spPr>
        <p:txBody>
          <a:bodyPr/>
          <a:lstStyle/>
          <a:p>
            <a:endParaRPr lang="en-RW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num"/>
          <p:cNvSpPr/>
          <p:nvPr/>
        </p:nvSpPr>
        <p:spPr>
          <a:xfrm>
            <a:off x="4526280" y="2971800"/>
            <a:ext cx="548640" cy="548640"/>
          </a:xfrm>
          <a:prstGeom prst="ellipse">
            <a:avLst/>
          </a:prstGeom>
          <a:solidFill>
            <a:srgbClr val="F4A300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RW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 11"/>
          <p:cNvSpPr txBox="1"/>
          <p:nvPr/>
        </p:nvSpPr>
        <p:spPr>
          <a:xfrm>
            <a:off x="4526280" y="29718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B263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 12"/>
          <p:cNvSpPr txBox="1"/>
          <p:nvPr/>
        </p:nvSpPr>
        <p:spPr>
          <a:xfrm>
            <a:off x="5212080" y="297180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B2545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Add daytime load only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Text 13"/>
          <p:cNvSpPr txBox="1"/>
          <p:nvPr/>
        </p:nvSpPr>
        <p:spPr>
          <a:xfrm>
            <a:off x="4526280" y="3749040"/>
            <a:ext cx="31089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1B263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New services run 10:00 to 15:00. Kigeme first. The Hall only with a rule: run when battery charge is 85% or higher.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reccard"/>
          <p:cNvSpPr/>
          <p:nvPr/>
        </p:nvSpPr>
        <p:spPr>
          <a:xfrm>
            <a:off x="8046720" y="2743200"/>
            <a:ext cx="3566160" cy="3383280"/>
          </a:xfrm>
          <a:prstGeom prst="roundRect">
            <a:avLst>
              <a:gd name="adj" fmla="val 2162"/>
            </a:avLst>
          </a:prstGeom>
          <a:solidFill>
            <a:srgbClr val="EEF2F6"/>
          </a:solidFill>
          <a:ln w="12700">
            <a:solidFill>
              <a:srgbClr val="EEF2F6"/>
            </a:solidFill>
            <a:prstDash val="solid"/>
          </a:ln>
        </p:spPr>
        <p:txBody>
          <a:bodyPr/>
          <a:lstStyle/>
          <a:p>
            <a:endParaRPr lang="en-RW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num"/>
          <p:cNvSpPr/>
          <p:nvPr/>
        </p:nvSpPr>
        <p:spPr>
          <a:xfrm>
            <a:off x="8275320" y="2971800"/>
            <a:ext cx="548640" cy="548640"/>
          </a:xfrm>
          <a:prstGeom prst="ellipse">
            <a:avLst/>
          </a:prstGeom>
          <a:solidFill>
            <a:srgbClr val="2A9D8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RW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Text 16"/>
          <p:cNvSpPr txBox="1"/>
          <p:nvPr/>
        </p:nvSpPr>
        <p:spPr>
          <a:xfrm>
            <a:off x="8275320" y="29718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Text 17"/>
          <p:cNvSpPr txBox="1"/>
          <p:nvPr/>
        </p:nvSpPr>
        <p:spPr>
          <a:xfrm>
            <a:off x="8961120" y="297180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B2545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Buy nothing yet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Text 18"/>
          <p:cNvSpPr txBox="1"/>
          <p:nvPr/>
        </p:nvSpPr>
        <p:spPr>
          <a:xfrm>
            <a:off x="8275320" y="3749040"/>
            <a:ext cx="31089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1B263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 extra panels, trackers or batteries now. Avoid evening loads and irons at Kigeme. Re-check the Hall after a second Nov to Feb season.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rgbClr val="7A8CA3"/>
                </a:solidFill>
              </a:defRPr>
            </a:lvl1pPr>
          </a:lstStyle>
          <a:p>
            <a:pPr algn="l"/>
            <a:fld id="{F7021451-1387-4CA6-816F-3879F97B5CBC}" type="slidenum">
              <a:rPr lang="en-US" b="0">
                <a:latin typeface="Times New Roman" panose="02020603050405020304" pitchFamily="18" charset="0"/>
                <a:cs typeface="Times New Roman" panose="02020603050405020304" pitchFamily="18" charset="0"/>
              </a:rPr>
              <a:t>15</a:t>
            </a:fld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27432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What our evidence cannot settle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1"/>
          <p:cNvSpPr txBox="1"/>
          <p:nvPr/>
        </p:nvSpPr>
        <p:spPr>
          <a:xfrm>
            <a:off x="548640" y="640080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B80"/>
                </a:solidFill>
              </a:rPr>
              <a:t>Source: notebook E.3 (limitations) and sections 3.1, 5, 6, 7. Confidence labels follow the notebook.</a:t>
            </a:r>
            <a:endParaRPr lang="en-US" sz="10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25880"/>
          <a:ext cx="11064240" cy="4736592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7548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5661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7665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Open question</a:t>
                      </a:r>
                      <a:endParaRPr lang="en-US" sz="1300" dirty="0"/>
                    </a:p>
                  </a:txBody>
                  <a:tcPr anchor="ctr">
                    <a:lnL w="1270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Alternative explanations still possible</a:t>
                      </a:r>
                      <a:endParaRPr lang="en-US" sz="1300" dirty="0"/>
                    </a:p>
                  </a:txBody>
                  <a:tcPr anchor="ctr">
                    <a:lnL w="1270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What would settle it</a:t>
                      </a:r>
                      <a:endParaRPr lang="en-US" sz="1300" dirty="0"/>
                    </a:p>
                  </a:txBody>
                  <a:tcPr anchor="ctr">
                    <a:lnL w="1270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7665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1B263B"/>
                          </a:solidFill>
                        </a:rPr>
                        <a:t>Why the Hall inverter is 85% efficient</a:t>
                      </a:r>
                      <a:endParaRPr lang="en-US" sz="1300" dirty="0"/>
                    </a:p>
                  </a:txBody>
                  <a:tcPr anchor="ctr">
                    <a:lnL w="1270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B263B"/>
                          </a:solidFill>
                        </a:rPr>
                        <a:t>Light load; model mismatch (48 V unit vs 24 V curve); DC-side sensor offset; real loss</a:t>
                      </a:r>
                      <a:endParaRPr lang="en-US" sz="1300" dirty="0"/>
                    </a:p>
                  </a:txBody>
                  <a:tcPr anchor="ctr">
                    <a:lnL w="1270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B263B"/>
                          </a:solidFill>
                        </a:rPr>
                        <a:t>Clamp meter at the DC terminals</a:t>
                      </a:r>
                      <a:endParaRPr lang="en-US" sz="1300" dirty="0"/>
                    </a:p>
                  </a:txBody>
                  <a:tcPr anchor="ctr">
                    <a:lnL w="1270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7665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1B263B"/>
                          </a:solidFill>
                        </a:rPr>
                        <a:t>Whether the batteries are healthy</a:t>
                      </a:r>
                      <a:endParaRPr lang="en-US" sz="1300" dirty="0"/>
                    </a:p>
                  </a:txBody>
                  <a:tcPr anchor="ctr">
                    <a:lnL w="1270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B263B"/>
                          </a:solidFill>
                        </a:rPr>
                        <a:t>SOC is off by about 10 points; apparent capacity is 1.5x nameplate; 9 months is too short to see ageing</a:t>
                      </a:r>
                      <a:endParaRPr lang="en-US" sz="1300" dirty="0"/>
                    </a:p>
                  </a:txBody>
                  <a:tcPr anchor="ctr">
                    <a:lnL w="1270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B263B"/>
                          </a:solidFill>
                        </a:rPr>
                        <a:t>Monitor settings vs nameplate (21.1 vs 19.2 kWh); direct capacity test</a:t>
                      </a:r>
                      <a:endParaRPr lang="en-US" sz="1300" dirty="0"/>
                    </a:p>
                  </a:txBody>
                  <a:tcPr anchor="ctr">
                    <a:lnL w="1270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7665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1B263B"/>
                          </a:solidFill>
                        </a:rPr>
                        <a:t>How much solar is truly unused</a:t>
                      </a:r>
                      <a:endParaRPr lang="en-US" sz="1300" dirty="0"/>
                    </a:p>
                  </a:txBody>
                  <a:tcPr anchor="ctr">
                    <a:lnL w="1270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B263B"/>
                          </a:solidFill>
                        </a:rPr>
                        <a:t>k = 0.7 fitted mostly on mornings; geometry assumed; throttling inferred, not logged</a:t>
                      </a:r>
                      <a:endParaRPr lang="en-US" sz="1300" dirty="0"/>
                    </a:p>
                  </a:txBody>
                  <a:tcPr anchor="ctr">
                    <a:lnL w="1270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B263B"/>
                          </a:solidFill>
                        </a:rPr>
                        <a:t>Surveyed tilt and azimuth; controller state log</a:t>
                      </a:r>
                      <a:endParaRPr lang="en-US" sz="1300" dirty="0"/>
                    </a:p>
                  </a:txBody>
                  <a:tcPr anchor="ctr">
                    <a:lnL w="1270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7665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1B263B"/>
                          </a:solidFill>
                        </a:rPr>
                        <a:t>What caused the Kigeme outage</a:t>
                      </a:r>
                      <a:endParaRPr lang="en-US" sz="1300" dirty="0"/>
                    </a:p>
                  </a:txBody>
                  <a:tcPr anchor="ctr">
                    <a:lnL w="1270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B263B"/>
                          </a:solidFill>
                        </a:rPr>
                        <a:t>Inverter off, breaker, fault, or one event vs two; unseen 145 h</a:t>
                      </a:r>
                      <a:endParaRPr lang="en-US" sz="1300" dirty="0"/>
                    </a:p>
                  </a:txBody>
                  <a:tcPr anchor="ctr">
                    <a:lnL w="1270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B263B"/>
                          </a:solidFill>
                        </a:rPr>
                        <a:t>Logbook, inverter event log</a:t>
                      </a:r>
                      <a:endParaRPr lang="en-US" sz="1300" dirty="0"/>
                    </a:p>
                  </a:txBody>
                  <a:tcPr anchor="ctr">
                    <a:lnL w="1270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7665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1B263B"/>
                          </a:solidFill>
                        </a:rPr>
                        <a:t>Whether people's needs are met</a:t>
                      </a:r>
                      <a:endParaRPr lang="en-US" sz="1300" dirty="0"/>
                    </a:p>
                  </a:txBody>
                  <a:tcPr anchor="ctr">
                    <a:lnL w="1270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B263B"/>
                          </a:solidFill>
                        </a:rPr>
                        <a:t>Electricity data cannot show access, attendance or satisfaction</a:t>
                      </a:r>
                      <a:endParaRPr lang="en-US" sz="1300" dirty="0"/>
                    </a:p>
                  </a:txBody>
                  <a:tcPr anchor="ctr">
                    <a:lnL w="1270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B263B"/>
                          </a:solidFill>
                        </a:rPr>
                        <a:t>Checksheets, user feedback</a:t>
                      </a:r>
                      <a:endParaRPr lang="en-US" sz="1300" dirty="0"/>
                    </a:p>
                  </a:txBody>
                  <a:tcPr anchor="ctr">
                    <a:lnL w="1270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7665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1B263B"/>
                          </a:solidFill>
                        </a:rPr>
                        <a:t>Whether the Kigeme-Hall fault gap is real</a:t>
                      </a:r>
                      <a:endParaRPr lang="en-US" sz="1300" dirty="0"/>
                    </a:p>
                  </a:txBody>
                  <a:tcPr anchor="ctr">
                    <a:lnL w="1270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B263B"/>
                          </a:solidFill>
                        </a:rPr>
                        <a:t>Different buildings, exposure and how easily faults get noticed; weekly flags are not independent</a:t>
                      </a:r>
                      <a:endParaRPr lang="en-US" sz="1300" dirty="0"/>
                    </a:p>
                  </a:txBody>
                  <a:tcPr anchor="ctr">
                    <a:lnL w="1270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B263B"/>
                          </a:solidFill>
                        </a:rPr>
                        <a:t>Run the cluster bootstrap</a:t>
                      </a:r>
                      <a:endParaRPr lang="en-US" sz="1300" dirty="0"/>
                    </a:p>
                  </a:txBody>
                  <a:tcPr anchor="ctr">
                    <a:lnL w="1270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rgbClr val="7A8CA3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27432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Recommendation, constraints and gaps, and uncertainty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1"/>
          <p:cNvSpPr txBox="1"/>
          <p:nvPr/>
        </p:nvSpPr>
        <p:spPr>
          <a:xfrm>
            <a:off x="548640" y="640080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B80"/>
                </a:solidFill>
              </a:rPr>
              <a:t>Confidence: Evidenced = computed from the data; Judgment = our reading. See notebook E.2 for all 13 actions.</a:t>
            </a:r>
            <a:endParaRPr lang="en-US" sz="1000" dirty="0"/>
          </a:p>
        </p:txBody>
      </p:sp>
      <p:sp>
        <p:nvSpPr>
          <p:cNvPr id="5" name="fcard"/>
          <p:cNvSpPr/>
          <p:nvPr/>
        </p:nvSpPr>
        <p:spPr>
          <a:xfrm>
            <a:off x="548640" y="1325880"/>
            <a:ext cx="3566160" cy="4937760"/>
          </a:xfrm>
          <a:prstGeom prst="roundRect">
            <a:avLst>
              <a:gd name="adj" fmla="val 2051"/>
            </a:avLst>
          </a:prstGeom>
          <a:solidFill>
            <a:srgbClr val="EEF2F6"/>
          </a:solidFill>
          <a:ln w="12700">
            <a:solidFill>
              <a:srgbClr val="EEF2F6"/>
            </a:solidFill>
            <a:prstDash val="solid"/>
          </a:ln>
        </p:spPr>
        <p:txBody>
          <a:bodyPr/>
          <a:lstStyle/>
          <a:p>
            <a:endParaRPr lang="en-RW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dot"/>
          <p:cNvSpPr/>
          <p:nvPr/>
        </p:nvSpPr>
        <p:spPr>
          <a:xfrm>
            <a:off x="731520" y="1508760"/>
            <a:ext cx="256032" cy="256032"/>
          </a:xfrm>
          <a:prstGeom prst="ellipse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  <p:txBody>
          <a:bodyPr/>
          <a:lstStyle/>
          <a:p>
            <a:endParaRPr lang="en-RW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4"/>
          <p:cNvSpPr txBox="1"/>
          <p:nvPr/>
        </p:nvSpPr>
        <p:spPr>
          <a:xfrm>
            <a:off x="1097280" y="141732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B2545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What to do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5"/>
          <p:cNvSpPr txBox="1"/>
          <p:nvPr/>
        </p:nvSpPr>
        <p:spPr>
          <a:xfrm>
            <a:off x="777240" y="2011680"/>
            <a:ext cx="3154680" cy="4160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B263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Repair CPE10, playground CPE4 and sockets, Streetlight 1; audit Nursery 2 wiring (Evidenced)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B263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Add daytime load at 10:00 to 15:00, Kigeme first (Evidenced)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B263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Hall: run new load only above 85% charge (Evidenced)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B263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Add sockets only at Hall S1 and Playground S2 (Evidenced)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B263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Do not buy panels, trackers or storage yet (Judgment)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fcard"/>
          <p:cNvSpPr/>
          <p:nvPr/>
        </p:nvSpPr>
        <p:spPr>
          <a:xfrm>
            <a:off x="4297680" y="1325880"/>
            <a:ext cx="3566160" cy="4937760"/>
          </a:xfrm>
          <a:prstGeom prst="roundRect">
            <a:avLst>
              <a:gd name="adj" fmla="val 2051"/>
            </a:avLst>
          </a:prstGeom>
          <a:solidFill>
            <a:srgbClr val="EEF2F6"/>
          </a:solidFill>
          <a:ln w="12700">
            <a:solidFill>
              <a:srgbClr val="EEF2F6"/>
            </a:solidFill>
            <a:prstDash val="solid"/>
          </a:ln>
        </p:spPr>
        <p:txBody>
          <a:bodyPr/>
          <a:lstStyle/>
          <a:p>
            <a:endParaRPr lang="en-RW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dot"/>
          <p:cNvSpPr/>
          <p:nvPr/>
        </p:nvSpPr>
        <p:spPr>
          <a:xfrm>
            <a:off x="4480560" y="1508760"/>
            <a:ext cx="256032" cy="256032"/>
          </a:xfrm>
          <a:prstGeom prst="ellipse">
            <a:avLst/>
          </a:prstGeom>
          <a:solidFill>
            <a:srgbClr val="F4A300"/>
          </a:solidFill>
          <a:ln w="12700">
            <a:solidFill>
              <a:srgbClr val="F4A300"/>
            </a:solidFill>
            <a:prstDash val="solid"/>
          </a:ln>
        </p:spPr>
        <p:txBody>
          <a:bodyPr/>
          <a:lstStyle/>
          <a:p>
            <a:endParaRPr lang="en-RW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 8"/>
          <p:cNvSpPr txBox="1"/>
          <p:nvPr/>
        </p:nvSpPr>
        <p:spPr>
          <a:xfrm>
            <a:off x="4846320" y="141732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B2545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Constraints and gaps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 9"/>
          <p:cNvSpPr txBox="1"/>
          <p:nvPr/>
        </p:nvSpPr>
        <p:spPr>
          <a:xfrm>
            <a:off x="4526280" y="2011680"/>
            <a:ext cx="3154680" cy="4160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B263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 evening loads; irons only after upsizing Kigeme's inverter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B263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Hall demand doubled and the Nov to Feb margin is thin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B263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95% of Kigeme load is unmetered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B263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 voltage, alarm, appliance or user-feedback data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B263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9 months only; hourly replay misses surges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fcard"/>
          <p:cNvSpPr/>
          <p:nvPr/>
        </p:nvSpPr>
        <p:spPr>
          <a:xfrm>
            <a:off x="8046720" y="1325880"/>
            <a:ext cx="3566160" cy="4937760"/>
          </a:xfrm>
          <a:prstGeom prst="roundRect">
            <a:avLst>
              <a:gd name="adj" fmla="val 2051"/>
            </a:avLst>
          </a:prstGeom>
          <a:solidFill>
            <a:srgbClr val="EEF2F6"/>
          </a:solidFill>
          <a:ln w="12700">
            <a:solidFill>
              <a:srgbClr val="EEF2F6"/>
            </a:solidFill>
            <a:prstDash val="solid"/>
          </a:ln>
        </p:spPr>
        <p:txBody>
          <a:bodyPr/>
          <a:lstStyle/>
          <a:p>
            <a:endParaRPr lang="en-RW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dot"/>
          <p:cNvSpPr/>
          <p:nvPr/>
        </p:nvSpPr>
        <p:spPr>
          <a:xfrm>
            <a:off x="8229600" y="1508760"/>
            <a:ext cx="256032" cy="256032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RW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 12"/>
          <p:cNvSpPr txBox="1"/>
          <p:nvPr/>
        </p:nvSpPr>
        <p:spPr>
          <a:xfrm>
            <a:off x="8595360" y="141732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B2545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Uncertainty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Text 13"/>
          <p:cNvSpPr txBox="1"/>
          <p:nvPr/>
        </p:nvSpPr>
        <p:spPr>
          <a:xfrm>
            <a:off x="8275320" y="2011680"/>
            <a:ext cx="3154680" cy="4160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B263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Unused solar: 1.6 to 3.7 kWh/day (Hall) is a range, not a measurement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B263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Hall headroom: 0.3 to 3.7 kWh by floor choice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B263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Battery charge reads plus or minus 10 points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B263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Fault-rate gap: suggestive until bootstrap is run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B263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Would change our advice: a second Nov to Feb season with Hall demand still rising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rgbClr val="7A8CA3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27432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Backup: likely questions and our direct answers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1"/>
          <p:cNvSpPr txBox="1"/>
          <p:nvPr/>
        </p:nvSpPr>
        <p:spPr>
          <a:xfrm>
            <a:off x="548640" y="640080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B80"/>
                </a:solidFill>
              </a:rPr>
              <a:t>Backup slide for Q&amp;A.</a:t>
            </a:r>
            <a:endParaRPr lang="en-US" sz="1000" dirty="0"/>
          </a:p>
        </p:txBody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25880"/>
          <a:ext cx="11064240" cy="4800600"/>
        </p:xfrm>
        <a:graphic>
          <a:graphicData uri="http://schemas.openxmlformats.org/drawingml/2006/table">
            <a:tbl>
              <a:tblPr/>
              <a:tblGrid>
                <a:gridCol w="3657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4066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858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Question</a:t>
                      </a:r>
                      <a:endParaRPr lang="en-US" sz="1300" dirty="0"/>
                    </a:p>
                  </a:txBody>
                  <a:tcPr anchor="ctr">
                    <a:lnL w="1270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Direct answer</a:t>
                      </a:r>
                      <a:endParaRPr lang="en-US" sz="1300" dirty="0"/>
                    </a:p>
                  </a:txBody>
                  <a:tcPr anchor="ctr">
                    <a:lnL w="1270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1B263B"/>
                          </a:solidFill>
                        </a:rPr>
                        <a:t>Is the system broken?</a:t>
                      </a:r>
                      <a:endParaRPr lang="en-US" sz="1300" dirty="0"/>
                    </a:p>
                  </a:txBody>
                  <a:tcPr anchor="ctr">
                    <a:lnL w="1270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B263B"/>
                          </a:solidFill>
                        </a:rPr>
                        <a:t>No. Controller 97%, Kigeme inverter 95%. The faults are specific fixtures and one outage week.</a:t>
                      </a:r>
                      <a:endParaRPr lang="en-US" sz="1300" dirty="0"/>
                    </a:p>
                  </a:txBody>
                  <a:tcPr anchor="ctr">
                    <a:lnL w="1270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1B263B"/>
                          </a:solidFill>
                        </a:rPr>
                        <a:t>Why not add more panels or batteries?</a:t>
                      </a:r>
                      <a:endParaRPr lang="en-US" sz="1300" dirty="0"/>
                    </a:p>
                  </a:txBody>
                  <a:tcPr anchor="ctr">
                    <a:lnL w="1270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B263B"/>
                          </a:solidFill>
                        </a:rPr>
                        <a:t>40 to 50% of potential solar is already unused. Storage matters only at the Hall, and only if demand keeps rising.</a:t>
                      </a:r>
                      <a:endParaRPr lang="en-US" sz="1300" dirty="0"/>
                    </a:p>
                  </a:txBody>
                  <a:tcPr anchor="ctr">
                    <a:lnL w="1270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1B263B"/>
                          </a:solidFill>
                        </a:rPr>
                        <a:t>Is the Hall inverter faulty?</a:t>
                      </a:r>
                      <a:endParaRPr lang="en-US" sz="1300" dirty="0"/>
                    </a:p>
                  </a:txBody>
                  <a:tcPr anchor="ctr">
                    <a:lnL w="1270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B263B"/>
                          </a:solidFill>
                        </a:rPr>
                        <a:t>We could not establish that. 85% is partly light load; a DC measurement would decide.</a:t>
                      </a:r>
                      <a:endParaRPr lang="en-US" sz="1300" dirty="0"/>
                    </a:p>
                  </a:txBody>
                  <a:tcPr anchor="ctr">
                    <a:lnL w="1270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1B263B"/>
                          </a:solidFill>
                        </a:rPr>
                        <a:t>Is the battery degrading?</a:t>
                      </a:r>
                      <a:endParaRPr lang="en-US" sz="1300" dirty="0"/>
                    </a:p>
                  </a:txBody>
                  <a:tcPr anchor="ctr">
                    <a:lnL w="1270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B263B"/>
                          </a:solidFill>
                        </a:rPr>
                        <a:t>We could not establish that. Capacity reads 1.5x nameplate, so the monitor is unreliable, not proven healthy or worn.</a:t>
                      </a:r>
                      <a:endParaRPr lang="en-US" sz="1300" dirty="0"/>
                    </a:p>
                  </a:txBody>
                  <a:tcPr anchor="ctr">
                    <a:lnL w="1270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1B263B"/>
                          </a:solidFill>
                        </a:rPr>
                        <a:t>Why Kigeme first, when the Hall has fewer faults?</a:t>
                      </a:r>
                      <a:endParaRPr lang="en-US" sz="1300" dirty="0"/>
                    </a:p>
                  </a:txBody>
                  <a:tcPr anchor="ctr">
                    <a:lnL w="1270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B263B"/>
                          </a:solidFill>
                        </a:rPr>
                        <a:t>Bigger battery (21.1 vs 10.6 kWh), steady demand, and the Hall's margin shrinks in Nov to Feb.</a:t>
                      </a:r>
                      <a:endParaRPr lang="en-US" sz="1300" dirty="0"/>
                    </a:p>
                  </a:txBody>
                  <a:tcPr anchor="ctr">
                    <a:lnL w="1270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1B263B"/>
                          </a:solidFill>
                        </a:rPr>
                        <a:t>Is the fault gap statistically real?</a:t>
                      </a:r>
                      <a:endParaRPr lang="en-US" sz="1300" dirty="0"/>
                    </a:p>
                  </a:txBody>
                  <a:tcPr anchor="ctr">
                    <a:lnL w="1270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B263B"/>
                          </a:solidFill>
                        </a:rPr>
                        <a:t>Naive test says yes (p = 0.0001), but weeks are not independent. The bootstrap check is not yet run.</a:t>
                      </a:r>
                      <a:endParaRPr lang="en-US" sz="1300" dirty="0"/>
                    </a:p>
                  </a:txBody>
                  <a:tcPr anchor="ctr">
                    <a:lnL w="1270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rgbClr val="7A8CA3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18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ommunity Solar">
  <a:themeElements>
    <a:clrScheme name="Community Solar">
      <a:dk1>
        <a:srgbClr val="1B263B"/>
      </a:dk1>
      <a:lt1>
        <a:srgbClr val="FFFFFF"/>
      </a:lt1>
      <a:dk2>
        <a:srgbClr val="0B2545"/>
      </a:dk2>
      <a:lt2>
        <a:srgbClr val="EEF2F6"/>
      </a:lt2>
      <a:accent1>
        <a:srgbClr val="1F5FA8"/>
      </a:accent1>
      <a:accent2>
        <a:srgbClr val="F4A300"/>
      </a:accent2>
      <a:accent3>
        <a:srgbClr val="2A9D8F"/>
      </a:accent3>
      <a:accent4>
        <a:srgbClr val="C0392B"/>
      </a:accent4>
      <a:accent5>
        <a:srgbClr val="7A8CA3"/>
      </a:accent5>
      <a:accent6>
        <a:srgbClr val="8E6BBF"/>
      </a:accent6>
      <a:hlink>
        <a:srgbClr val="1F5FA8"/>
      </a:hlink>
      <a:folHlink>
        <a:srgbClr val="7A8CA3"/>
      </a:folHlink>
    </a:clrScheme>
    <a:fontScheme name="Community Solar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513</TotalTime>
  <Words>3021</Words>
  <Application>Microsoft Office PowerPoint</Application>
  <PresentationFormat>Widescreen</PresentationFormat>
  <Paragraphs>314</Paragraphs>
  <Slides>18</Slides>
  <Notes>18</Notes>
  <HiddenSlides>1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2" baseType="lpstr">
      <vt:lpstr>Arial</vt:lpstr>
      <vt:lpstr>Calibri</vt:lpstr>
      <vt:lpstr>Times New Roman</vt:lpstr>
      <vt:lpstr>Community Solar</vt:lpstr>
      <vt:lpstr>Carnegie Mellon University Africa</vt:lpstr>
      <vt:lpstr>Can the community solar systems carry more services?</vt:lpstr>
      <vt:lpstr>What we analysed, and how we kept it honest</vt:lpstr>
      <vt:lpstr>The measure: does the system have energy to spare, when, and for how long?</vt:lpstr>
      <vt:lpstr>The equipment works; the Hall inverter is the open question</vt:lpstr>
      <vt:lpstr>Low solar output is not a fault: panels deliver about 70% of the model at both sites</vt:lpstr>
      <vt:lpstr>40 to 50% of the solar potential is switched off because the battery is already full</vt:lpstr>
      <vt:lpstr>Kigeme lost about a week of AC output with a full battery: a fault, not a shortage</vt:lpstr>
      <vt:lpstr>Spare solar sits at 10:00 to 15:00, not in the morning</vt:lpstr>
      <vt:lpstr>The Hall battery is comfortable until November, then the margin shrinks</vt:lpstr>
      <vt:lpstr>The Hall's planning number is the low end: 0.3 to 3.7 kWh, depending on the reserve floor</vt:lpstr>
      <vt:lpstr>At the Hall, six laptops without a rule push the battery below its floor 4x more often</vt:lpstr>
      <vt:lpstr>Power is not the limit for laptops or phones, but irons are out at Kigeme</vt:lpstr>
      <vt:lpstr>Service is limited by repairs and sockets, not by energy</vt:lpstr>
      <vt:lpstr>Our question, and what we recommend</vt:lpstr>
      <vt:lpstr>What our evidence cannot settle</vt:lpstr>
      <vt:lpstr>Recommendation, constraints and gaps, and uncertainty</vt:lpstr>
      <vt:lpstr>Backup: likely questions and our direct answers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Case 3: Community Solar - Spare capacity briefing</dc:title>
  <dc:subject>PptxGenJS Presentation</dc:subject>
  <dc:creator>Rasheed Adarijo &amp; Touissant</dc:creator>
  <cp:lastModifiedBy>Dukundimana Toussaint</cp:lastModifiedBy>
  <cp:revision>12</cp:revision>
  <dcterms:created xsi:type="dcterms:W3CDTF">2026-10-07T11:02:57Z</dcterms:created>
  <dcterms:modified xsi:type="dcterms:W3CDTF">2026-10-13T10:45:07Z</dcterms:modified>
</cp:coreProperties>
</file>